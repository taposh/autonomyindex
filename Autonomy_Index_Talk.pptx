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varScale="1">
        <p:scale>
          <a:sx n="102" d="100"/>
          <a:sy n="102" d="100"/>
        </p:scale>
        <p:origin x="192" y="6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D2640"/>
                </a:solidFill>
                <a:latin typeface="Arial"/>
              </a:defRPr>
            </a:pPr>
            <a:r>
              <a:rPr lang="en-US" sz="1300" b="0" i="0" u="none" strike="noStrike">
                <a:solidFill>
                  <a:srgbClr val="0D2640"/>
                </a:solidFill>
                <a:latin typeface="Arial"/>
              </a:rPr>
              <a:t>Model scores on the same 50 vignettes</a:t>
            </a:r>
          </a:p>
        </c:rich>
      </c:tx>
      <c:overlay val="0"/>
    </c:title>
    <c:autoTitleDeleted val="0"/>
    <c:plotArea>
      <c:layout/>
      <c:barChart>
        <c:barDir val="col"/>
        <c:grouping val="clustered"/>
        <c:varyColors val="0"/>
        <c:ser>
          <c:idx val="0"/>
          <c:order val="0"/>
          <c:tx>
            <c:strRef>
              <c:f>Sheet1!$B$1</c:f>
              <c:strCache>
                <c:ptCount val="1"/>
                <c:pt idx="0">
                  <c:v>March 2026</c:v>
                </c:pt>
              </c:strCache>
            </c:strRef>
          </c:tx>
          <c:spPr>
            <a:solidFill>
              <a:srgbClr val="94A3B8"/>
            </a:solidFill>
            <a:effectLst/>
          </c:spPr>
          <c:invertIfNegative val="0"/>
          <c:dLbls>
            <c:numFmt formatCode="0.0" sourceLinked="0"/>
            <c:spPr>
              <a:noFill/>
              <a:ln>
                <a:noFill/>
              </a:ln>
              <a:effectLst/>
            </c:spPr>
            <c:txPr>
              <a:bodyPr/>
              <a:lstStyle/>
              <a:p>
                <a:pPr>
                  <a:defRPr sz="900" b="0" i="0" u="none" strike="noStrike">
                    <a:solidFill>
                      <a:srgbClr val="1A27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Values
Awareness</c:v>
                </c:pt>
                <c:pt idx="1">
                  <c:v>Factual
Understanding</c:v>
                </c:pt>
                <c:pt idx="2">
                  <c:v>Rational
Deliberation</c:v>
                </c:pt>
                <c:pt idx="3">
                  <c:v>Intentional
Action</c:v>
                </c:pt>
                <c:pt idx="4">
                  <c:v>Composite</c:v>
                </c:pt>
              </c:strCache>
            </c:strRef>
          </c:cat>
          <c:val>
            <c:numRef>
              <c:f>Sheet1!$B$2:$B$6</c:f>
              <c:numCache>
                <c:formatCode>General</c:formatCode>
                <c:ptCount val="5"/>
                <c:pt idx="0">
                  <c:v>46.8</c:v>
                </c:pt>
                <c:pt idx="1">
                  <c:v>34.1</c:v>
                </c:pt>
                <c:pt idx="2">
                  <c:v>40.799999999999997</c:v>
                </c:pt>
                <c:pt idx="3">
                  <c:v>36.6</c:v>
                </c:pt>
                <c:pt idx="4">
                  <c:v>39.6</c:v>
                </c:pt>
              </c:numCache>
            </c:numRef>
          </c:val>
          <c:extLst>
            <c:ext xmlns:c16="http://schemas.microsoft.com/office/drawing/2014/chart" uri="{C3380CC4-5D6E-409C-BE32-E72D297353CC}">
              <c16:uniqueId val="{00000000-EEE9-8741-B6DD-3C752BE399B9}"/>
            </c:ext>
          </c:extLst>
        </c:ser>
        <c:ser>
          <c:idx val="1"/>
          <c:order val="1"/>
          <c:tx>
            <c:strRef>
              <c:f>Sheet1!$C$1</c:f>
              <c:strCache>
                <c:ptCount val="1"/>
                <c:pt idx="0">
                  <c:v>July 2026</c:v>
                </c:pt>
              </c:strCache>
            </c:strRef>
          </c:tx>
          <c:spPr>
            <a:solidFill>
              <a:srgbClr val="0891B2"/>
            </a:solidFill>
            <a:effectLst/>
          </c:spPr>
          <c:invertIfNegative val="0"/>
          <c:dLbls>
            <c:numFmt formatCode="0.0" sourceLinked="0"/>
            <c:spPr>
              <a:noFill/>
              <a:ln>
                <a:noFill/>
              </a:ln>
              <a:effectLst/>
            </c:spPr>
            <c:txPr>
              <a:bodyPr/>
              <a:lstStyle/>
              <a:p>
                <a:pPr>
                  <a:defRPr sz="900" b="0" i="0" u="none" strike="noStrike">
                    <a:solidFill>
                      <a:srgbClr val="1A27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Values
Awareness</c:v>
                </c:pt>
                <c:pt idx="1">
                  <c:v>Factual
Understanding</c:v>
                </c:pt>
                <c:pt idx="2">
                  <c:v>Rational
Deliberation</c:v>
                </c:pt>
                <c:pt idx="3">
                  <c:v>Intentional
Action</c:v>
                </c:pt>
                <c:pt idx="4">
                  <c:v>Composite</c:v>
                </c:pt>
              </c:strCache>
            </c:strRef>
          </c:cat>
          <c:val>
            <c:numRef>
              <c:f>Sheet1!$C$2:$C$6</c:f>
              <c:numCache>
                <c:formatCode>General</c:formatCode>
                <c:ptCount val="5"/>
                <c:pt idx="0">
                  <c:v>44.6</c:v>
                </c:pt>
                <c:pt idx="1">
                  <c:v>34.1</c:v>
                </c:pt>
                <c:pt idx="2">
                  <c:v>40.200000000000003</c:v>
                </c:pt>
                <c:pt idx="3">
                  <c:v>38.700000000000003</c:v>
                </c:pt>
                <c:pt idx="4">
                  <c:v>39.4</c:v>
                </c:pt>
              </c:numCache>
            </c:numRef>
          </c:val>
          <c:extLst>
            <c:ext xmlns:c16="http://schemas.microsoft.com/office/drawing/2014/chart" uri="{C3380CC4-5D6E-409C-BE32-E72D297353CC}">
              <c16:uniqueId val="{00000001-EEE9-8741-B6DD-3C752BE399B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7183"/>
                </a:solidFill>
                <a:latin typeface="Arial"/>
              </a:defRPr>
            </a:pPr>
            <a:endParaRPr lang="en-US"/>
          </a:p>
        </c:txPr>
        <c:crossAx val="2094734552"/>
        <c:crosses val="autoZero"/>
        <c:auto val="1"/>
        <c:lblAlgn val="ctr"/>
        <c:lblOffset val="100"/>
        <c:noMultiLvlLbl val="1"/>
      </c:catAx>
      <c:valAx>
        <c:axId val="2094734552"/>
        <c:scaling>
          <c:orientation val="minMax"/>
          <c:max val="60"/>
        </c:scaling>
        <c:delete val="0"/>
        <c:axPos val="l"/>
        <c:majorGridlines>
          <c:spPr>
            <a:ln w="12700" cap="flat">
              <a:solidFill>
                <a:srgbClr val="E8EE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718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45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framing: we built a structured instrument for patient autonomy, gave it to trained bioethics reviewers and to eight current language models on the same 50 cases, and compared what they did with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the N/A option here so the abstention finding later does not come out of nowhere. N/A is a substantive response, distinct from a score of 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paired vignette-level estimate is the headline. The mixed-model estimate under the equal-weighting specification is +9.4 (SE 1.6); both are reported.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finding that needs no reference-standard assumption. It does not depend on humans being right.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640"/>
        </a:solidFill>
        <a:effectLst/>
      </p:bgPr>
    </p:bg>
    <p:spTree>
      <p:nvGrpSpPr>
        <p:cNvPr id="1" name=""/>
        <p:cNvGrpSpPr/>
        <p:nvPr/>
      </p:nvGrpSpPr>
      <p:grpSpPr>
        <a:xfrm>
          <a:off x="0" y="0"/>
          <a:ext cx="0" cy="0"/>
          <a:chOff x="0" y="0"/>
          <a:chExt cx="0" cy="0"/>
        </a:xfrm>
      </p:grpSpPr>
      <p:sp>
        <p:nvSpPr>
          <p:cNvPr id="2" name="Text 0"/>
          <p:cNvSpPr txBox="1"/>
          <p:nvPr/>
        </p:nvSpPr>
        <p:spPr>
          <a:xfrm>
            <a:off x="685800" y="1965960"/>
            <a:ext cx="9692640" cy="16459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Auditing the Human–LLM Autonomy Gap in Clinical Ethics</a:t>
            </a:r>
            <a:endParaRPr lang="en-US" sz="4000" dirty="0"/>
          </a:p>
        </p:txBody>
      </p:sp>
      <p:sp>
        <p:nvSpPr>
          <p:cNvPr id="3" name="Shape 1"/>
          <p:cNvSpPr/>
          <p:nvPr/>
        </p:nvSpPr>
        <p:spPr>
          <a:xfrm>
            <a:off x="685800" y="3767328"/>
            <a:ext cx="1371600" cy="41148"/>
          </a:xfrm>
          <a:prstGeom prst="rect">
            <a:avLst/>
          </a:prstGeom>
          <a:solidFill>
            <a:srgbClr val="0891B2"/>
          </a:solidFill>
          <a:ln/>
        </p:spPr>
        <p:txBody>
          <a:bodyPr/>
          <a:lstStyle/>
          <a:p>
            <a:endParaRPr lang="en-US"/>
          </a:p>
        </p:txBody>
      </p:sp>
      <p:sp>
        <p:nvSpPr>
          <p:cNvPr id="4" name="Text 2"/>
          <p:cNvSpPr txBox="1"/>
          <p:nvPr/>
        </p:nvSpPr>
        <p:spPr>
          <a:xfrm>
            <a:off x="685800" y="4041648"/>
            <a:ext cx="8229600" cy="320040"/>
          </a:xfrm>
          <a:prstGeom prst="rect">
            <a:avLst/>
          </a:prstGeom>
          <a:noFill/>
          <a:ln/>
        </p:spPr>
        <p:txBody>
          <a:bodyPr wrap="square" lIns="0" tIns="0" rIns="0" bIns="0" rtlCol="0" anchor="t"/>
          <a:lstStyle/>
          <a:p>
            <a:pPr marL="0" indent="0">
              <a:buNone/>
            </a:pPr>
            <a:r>
              <a:rPr lang="en-US" sz="1600" dirty="0">
                <a:solidFill>
                  <a:srgbClr val="C7D8E3"/>
                </a:solidFill>
                <a:latin typeface="Calibri" pitchFamily="34" charset="0"/>
                <a:ea typeface="Calibri" pitchFamily="34" charset="-122"/>
                <a:cs typeface="Calibri" pitchFamily="34" charset="-120"/>
              </a:rPr>
              <a:t>Taposh Dutta Roy  ·  Rebecca Weintraub Brendel, MD, JD</a:t>
            </a:r>
            <a:endParaRPr lang="en-US" sz="1600" dirty="0"/>
          </a:p>
        </p:txBody>
      </p:sp>
      <p:sp>
        <p:nvSpPr>
          <p:cNvPr id="5" name="Text 3"/>
          <p:cNvSpPr txBox="1"/>
          <p:nvPr/>
        </p:nvSpPr>
        <p:spPr>
          <a:xfrm>
            <a:off x="685800" y="4389120"/>
            <a:ext cx="8229600" cy="292608"/>
          </a:xfrm>
          <a:prstGeom prst="rect">
            <a:avLst/>
          </a:prstGeom>
          <a:noFill/>
          <a:ln/>
        </p:spPr>
        <p:txBody>
          <a:bodyPr wrap="square" lIns="0" tIns="0" rIns="0" bIns="0" rtlCol="0" anchor="t"/>
          <a:lstStyle/>
          <a:p>
            <a:pPr marL="0" indent="0">
              <a:buNone/>
            </a:pPr>
            <a:r>
              <a:rPr lang="en-US" sz="1300" dirty="0">
                <a:solidFill>
                  <a:srgbClr val="8FA9BA"/>
                </a:solidFill>
                <a:latin typeface="Calibri" pitchFamily="34" charset="0"/>
                <a:ea typeface="Calibri" pitchFamily="34" charset="-122"/>
                <a:cs typeface="Calibri" pitchFamily="34" charset="-120"/>
              </a:rPr>
              <a:t>Center for Bioethics, Harvard Medical School</a:t>
            </a:r>
            <a:endParaRPr lang="en-US" sz="1300" dirty="0"/>
          </a:p>
        </p:txBody>
      </p:sp>
      <p:sp>
        <p:nvSpPr>
          <p:cNvPr id="6" name="Text 4"/>
          <p:cNvSpPr txBox="1"/>
          <p:nvPr/>
        </p:nvSpPr>
        <p:spPr>
          <a:xfrm>
            <a:off x="685800" y="5806440"/>
            <a:ext cx="10058400" cy="292608"/>
          </a:xfrm>
          <a:prstGeom prst="rect">
            <a:avLst/>
          </a:prstGeom>
          <a:noFill/>
          <a:ln/>
        </p:spPr>
        <p:txBody>
          <a:bodyPr wrap="square" lIns="0" tIns="0" rIns="0" bIns="0" rtlCol="0" anchor="t"/>
          <a:lstStyle/>
          <a:p>
            <a:pPr marL="0" indent="0">
              <a:buNone/>
            </a:pPr>
            <a:r>
              <a:rPr lang="en-US" sz="1200" dirty="0">
                <a:solidFill>
                  <a:srgbClr val="0891B2"/>
                </a:solidFill>
                <a:latin typeface="Calibri" pitchFamily="34" charset="0"/>
                <a:ea typeface="Calibri" pitchFamily="34" charset="-122"/>
                <a:cs typeface="Calibri" pitchFamily="34" charset="-120"/>
              </a:rPr>
              <a:t>50 clinical-ethics vignettes  ·  175 expert ratings  ·  8 models × 10 runs  ·  IRB26-0146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384048"/>
            <a:ext cx="10058400" cy="256032"/>
          </a:xfrm>
          <a:prstGeom prst="rect">
            <a:avLst/>
          </a:prstGeom>
          <a:noFill/>
          <a:ln/>
        </p:spPr>
        <p:txBody>
          <a:bodyPr wrap="square" lIns="0" tIns="0" rIns="0" bIns="0" rtlCol="0" anchor="t"/>
          <a:lstStyle/>
          <a:p>
            <a:pPr marL="0" indent="0">
              <a:buNone/>
            </a:pPr>
            <a:r>
              <a:rPr lang="en-US" sz="1100" b="1" kern="0" spc="200" dirty="0">
                <a:solidFill>
                  <a:srgbClr val="0891B2"/>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685800" y="964692"/>
            <a:ext cx="10881360" cy="777240"/>
          </a:xfrm>
          <a:prstGeom prst="rect">
            <a:avLst/>
          </a:prstGeom>
          <a:noFill/>
          <a:ln/>
        </p:spPr>
        <p:txBody>
          <a:bodyPr wrap="square" lIns="0" tIns="0" rIns="0" bIns="0" rtlCol="0" anchor="t"/>
          <a:lstStyle/>
          <a:p>
            <a:pPr marL="0" indent="0">
              <a:buNone/>
            </a:pPr>
            <a:r>
              <a:rPr lang="en-US" sz="3000" b="1" dirty="0">
                <a:solidFill>
                  <a:srgbClr val="0D2640"/>
                </a:solidFill>
                <a:latin typeface="Cambria" pitchFamily="34" charset="0"/>
                <a:ea typeface="Cambria" pitchFamily="34" charset="-122"/>
                <a:cs typeface="Cambria" pitchFamily="34" charset="-120"/>
              </a:rPr>
              <a:t>Models are already answering health questions. </a:t>
            </a:r>
            <a:endParaRPr lang="en-US" sz="3000" dirty="0"/>
          </a:p>
        </p:txBody>
      </p:sp>
      <p:sp>
        <p:nvSpPr>
          <p:cNvPr id="4" name="Shape 2"/>
          <p:cNvSpPr/>
          <p:nvPr/>
        </p:nvSpPr>
        <p:spPr>
          <a:xfrm>
            <a:off x="685800" y="2185416"/>
            <a:ext cx="384048" cy="384048"/>
          </a:xfrm>
          <a:prstGeom prst="ellipse">
            <a:avLst/>
          </a:prstGeom>
          <a:solidFill>
            <a:srgbClr val="0D2640"/>
          </a:solidFill>
          <a:ln/>
        </p:spPr>
        <p:txBody>
          <a:bodyPr/>
          <a:lstStyle/>
          <a:p>
            <a:endParaRPr lang="en-US"/>
          </a:p>
        </p:txBody>
      </p:sp>
      <p:sp>
        <p:nvSpPr>
          <p:cNvPr id="5" name="Text 3"/>
          <p:cNvSpPr txBox="1"/>
          <p:nvPr/>
        </p:nvSpPr>
        <p:spPr>
          <a:xfrm>
            <a:off x="685800" y="218541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07592" y="2226564"/>
            <a:ext cx="3657600" cy="365760"/>
          </a:xfrm>
          <a:prstGeom prst="rect">
            <a:avLst/>
          </a:prstGeom>
          <a:noFill/>
          <a:ln/>
        </p:spPr>
        <p:txBody>
          <a:bodyPr wrap="square" lIns="0" tIns="0" rIns="0" bIns="0" rtlCol="0" anchor="t"/>
          <a:lstStyle/>
          <a:p>
            <a:pPr marL="0" indent="0">
              <a:buNone/>
            </a:pPr>
            <a:r>
              <a:rPr lang="en-US" sz="1700" b="1" dirty="0">
                <a:solidFill>
                  <a:srgbClr val="0D2640"/>
                </a:solidFill>
                <a:latin typeface="Cambria" pitchFamily="34" charset="0"/>
                <a:ea typeface="Cambria" pitchFamily="34" charset="-122"/>
                <a:cs typeface="Cambria" pitchFamily="34" charset="-120"/>
              </a:rPr>
              <a:t>Exposure has moved from General Purpose to Clinical</a:t>
            </a:r>
            <a:endParaRPr lang="en-US" sz="1700" dirty="0"/>
          </a:p>
        </p:txBody>
      </p:sp>
      <p:sp>
        <p:nvSpPr>
          <p:cNvPr id="7" name="Text 5"/>
          <p:cNvSpPr txBox="1"/>
          <p:nvPr/>
        </p:nvSpPr>
        <p:spPr>
          <a:xfrm>
            <a:off x="5074920" y="2167128"/>
            <a:ext cx="6400800" cy="914400"/>
          </a:xfrm>
          <a:prstGeom prst="rect">
            <a:avLst/>
          </a:prstGeom>
          <a:noFill/>
          <a:ln/>
        </p:spPr>
        <p:txBody>
          <a:bodyPr wrap="square" lIns="0" tIns="0" rIns="0" bIns="0" rtlCol="0" anchor="t"/>
          <a:lstStyle/>
          <a:p>
            <a:pPr marL="0" indent="0">
              <a:buNone/>
            </a:pPr>
            <a:r>
              <a:rPr lang="en-US" sz="1600" dirty="0">
                <a:solidFill>
                  <a:srgbClr val="1A2733"/>
                </a:solidFill>
                <a:latin typeface="Calibri" pitchFamily="34" charset="0"/>
                <a:ea typeface="Calibri" pitchFamily="34" charset="-122"/>
                <a:cs typeface="Calibri" pitchFamily="34" charset="-120"/>
              </a:rPr>
              <a:t>The debate is about purpose-built clinical AI under regulatory review. The models are developed for general-purpose chat models with no clinical indication.</a:t>
            </a:r>
            <a:endParaRPr lang="en-US" sz="1600" dirty="0"/>
          </a:p>
        </p:txBody>
      </p:sp>
      <p:sp>
        <p:nvSpPr>
          <p:cNvPr id="8" name="Shape 6"/>
          <p:cNvSpPr/>
          <p:nvPr/>
        </p:nvSpPr>
        <p:spPr>
          <a:xfrm>
            <a:off x="685800" y="3483864"/>
            <a:ext cx="384048" cy="384048"/>
          </a:xfrm>
          <a:prstGeom prst="ellipse">
            <a:avLst/>
          </a:prstGeom>
          <a:solidFill>
            <a:srgbClr val="0D2640"/>
          </a:solidFill>
          <a:ln/>
        </p:spPr>
        <p:txBody>
          <a:bodyPr/>
          <a:lstStyle/>
          <a:p>
            <a:endParaRPr lang="en-US"/>
          </a:p>
        </p:txBody>
      </p:sp>
      <p:sp>
        <p:nvSpPr>
          <p:cNvPr id="9" name="Text 7"/>
          <p:cNvSpPr txBox="1"/>
          <p:nvPr/>
        </p:nvSpPr>
        <p:spPr>
          <a:xfrm>
            <a:off x="685800" y="348386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307592" y="3547872"/>
            <a:ext cx="3657600" cy="365760"/>
          </a:xfrm>
          <a:prstGeom prst="rect">
            <a:avLst/>
          </a:prstGeom>
          <a:noFill/>
          <a:ln/>
        </p:spPr>
        <p:txBody>
          <a:bodyPr wrap="square" lIns="0" tIns="0" rIns="0" bIns="0" rtlCol="0" anchor="t"/>
          <a:lstStyle/>
          <a:p>
            <a:pPr marL="0" indent="0">
              <a:buNone/>
            </a:pPr>
            <a:r>
              <a:rPr lang="en-US" sz="1700" b="1" dirty="0">
                <a:solidFill>
                  <a:srgbClr val="0D2640"/>
                </a:solidFill>
                <a:latin typeface="Cambria" pitchFamily="34" charset="0"/>
                <a:ea typeface="Cambria" pitchFamily="34" charset="-122"/>
                <a:cs typeface="Cambria" pitchFamily="34" charset="-120"/>
              </a:rPr>
              <a:t>Evaluation looks elsewhere</a:t>
            </a:r>
            <a:endParaRPr lang="en-US" sz="1700" dirty="0"/>
          </a:p>
        </p:txBody>
      </p:sp>
      <p:sp>
        <p:nvSpPr>
          <p:cNvPr id="11" name="Text 9"/>
          <p:cNvSpPr txBox="1"/>
          <p:nvPr/>
        </p:nvSpPr>
        <p:spPr>
          <a:xfrm>
            <a:off x="5074920" y="3465576"/>
            <a:ext cx="6400800" cy="914400"/>
          </a:xfrm>
          <a:prstGeom prst="rect">
            <a:avLst/>
          </a:prstGeom>
          <a:noFill/>
          <a:ln/>
        </p:spPr>
        <p:txBody>
          <a:bodyPr wrap="square" lIns="0" tIns="0" rIns="0" bIns="0" rtlCol="0" anchor="t"/>
          <a:lstStyle>
            <a:lvl1pPr indent="0">
              <a:buNone/>
              <a:defRPr sz="1600">
                <a:solidFill>
                  <a:srgbClr val="1A2733"/>
                </a:solidFill>
                <a:latin typeface="Calibri" pitchFamily="34" charset="0"/>
                <a:ea typeface="Calibri" pitchFamily="34" charset="-122"/>
                <a:cs typeface="Calibri" pitchFamily="34" charset="-120"/>
              </a:defRPr>
            </a:lvl1pPr>
          </a:lstStyle>
          <a:p>
            <a:r>
              <a:rPr lang="en-US" dirty="0"/>
              <a:t>Benchmarks measure factual accuracy, exam performance, and refusal. Whether a model treats a patient as an agent has almost no empirical literature.</a:t>
            </a:r>
          </a:p>
        </p:txBody>
      </p:sp>
      <p:sp>
        <p:nvSpPr>
          <p:cNvPr id="12" name="Shape 10"/>
          <p:cNvSpPr/>
          <p:nvPr/>
        </p:nvSpPr>
        <p:spPr>
          <a:xfrm>
            <a:off x="685800" y="4782312"/>
            <a:ext cx="384048" cy="384048"/>
          </a:xfrm>
          <a:prstGeom prst="ellipse">
            <a:avLst/>
          </a:prstGeom>
          <a:solidFill>
            <a:srgbClr val="0891B2"/>
          </a:solidFill>
          <a:ln/>
        </p:spPr>
        <p:txBody>
          <a:bodyPr/>
          <a:lstStyle/>
          <a:p>
            <a:endParaRPr lang="en-US"/>
          </a:p>
        </p:txBody>
      </p:sp>
      <p:sp>
        <p:nvSpPr>
          <p:cNvPr id="13" name="Text 11"/>
          <p:cNvSpPr txBox="1"/>
          <p:nvPr/>
        </p:nvSpPr>
        <p:spPr>
          <a:xfrm>
            <a:off x="685800" y="478231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307592" y="4745736"/>
            <a:ext cx="3657600" cy="365760"/>
          </a:xfrm>
          <a:prstGeom prst="rect">
            <a:avLst/>
          </a:prstGeom>
          <a:noFill/>
          <a:ln/>
        </p:spPr>
        <p:txBody>
          <a:bodyPr wrap="square" lIns="0" tIns="0" rIns="0" bIns="0" rtlCol="0" anchor="t"/>
          <a:lstStyle/>
          <a:p>
            <a:pPr marL="0" indent="0">
              <a:buNone/>
            </a:pPr>
            <a:r>
              <a:rPr lang="en-US" sz="1700" b="1" dirty="0">
                <a:solidFill>
                  <a:srgbClr val="0D2640"/>
                </a:solidFill>
                <a:latin typeface="Cambria" pitchFamily="34" charset="0"/>
                <a:ea typeface="Cambria" pitchFamily="34" charset="-122"/>
                <a:cs typeface="Cambria" pitchFamily="34" charset="-120"/>
              </a:rPr>
              <a:t>Human judgment is also undocumented</a:t>
            </a:r>
            <a:endParaRPr lang="en-US" sz="1700" dirty="0"/>
          </a:p>
        </p:txBody>
      </p:sp>
      <p:sp>
        <p:nvSpPr>
          <p:cNvPr id="15" name="Text 13"/>
          <p:cNvSpPr txBox="1"/>
          <p:nvPr/>
        </p:nvSpPr>
        <p:spPr>
          <a:xfrm>
            <a:off x="5074920" y="4764024"/>
            <a:ext cx="6400800" cy="914400"/>
          </a:xfrm>
          <a:prstGeom prst="rect">
            <a:avLst/>
          </a:prstGeom>
          <a:noFill/>
          <a:ln/>
        </p:spPr>
        <p:txBody>
          <a:bodyPr wrap="square" lIns="0" tIns="0" rIns="0" bIns="0" rtlCol="0" anchor="t"/>
          <a:lstStyle/>
          <a:p>
            <a:pPr marL="0" indent="0">
              <a:buNone/>
            </a:pPr>
            <a:r>
              <a:rPr lang="en-US" sz="1600" dirty="0">
                <a:solidFill>
                  <a:srgbClr val="1A2733"/>
                </a:solidFill>
                <a:latin typeface="Calibri" pitchFamily="34" charset="0"/>
                <a:cs typeface="Calibri" pitchFamily="34" charset="-120"/>
              </a:rPr>
              <a:t>How clinicians actually weigh values, facts, deliberation, and enacted agency is sparsely described. The Appelbaum model says what ought to count, not what practitioners do.</a:t>
            </a:r>
          </a:p>
        </p:txBody>
      </p:sp>
      <p:sp>
        <p:nvSpPr>
          <p:cNvPr id="16" name="Text 14"/>
          <p:cNvSpPr txBox="1"/>
          <p:nvPr/>
        </p:nvSpPr>
        <p:spPr>
          <a:xfrm>
            <a:off x="685800" y="5943600"/>
            <a:ext cx="10058400" cy="365760"/>
          </a:xfrm>
          <a:prstGeom prst="rect">
            <a:avLst/>
          </a:prstGeom>
          <a:noFill/>
          <a:ln/>
        </p:spPr>
        <p:txBody>
          <a:bodyPr wrap="square" lIns="0" tIns="0" rIns="0" bIns="0" rtlCol="0" anchor="t"/>
          <a:lstStyle/>
          <a:p>
            <a:pPr marL="0" indent="0">
              <a:buNone/>
            </a:pPr>
            <a:r>
              <a:rPr lang="en-US" sz="1600" i="1" dirty="0">
                <a:solidFill>
                  <a:srgbClr val="0891B2"/>
                </a:solidFill>
                <a:latin typeface="Calibri" pitchFamily="34" charset="0"/>
                <a:ea typeface="Calibri" pitchFamily="34" charset="-122"/>
                <a:cs typeface="Calibri" pitchFamily="34" charset="-120"/>
              </a:rPr>
              <a:t>So we measured one dimension properly, on both sides.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a:effectLst/>
      </p:bgPr>
    </p:bg>
    <p:spTree>
      <p:nvGrpSpPr>
        <p:cNvPr id="1" name=""/>
        <p:cNvGrpSpPr/>
        <p:nvPr/>
      </p:nvGrpSpPr>
      <p:grpSpPr>
        <a:xfrm>
          <a:off x="0" y="0"/>
          <a:ext cx="0" cy="0"/>
          <a:chOff x="0" y="0"/>
          <a:chExt cx="0" cy="0"/>
        </a:xfrm>
      </p:grpSpPr>
      <p:sp>
        <p:nvSpPr>
          <p:cNvPr id="2" name="Text 0"/>
          <p:cNvSpPr txBox="1"/>
          <p:nvPr/>
        </p:nvSpPr>
        <p:spPr>
          <a:xfrm>
            <a:off x="685800" y="384048"/>
            <a:ext cx="10058400" cy="256032"/>
          </a:xfrm>
          <a:prstGeom prst="rect">
            <a:avLst/>
          </a:prstGeom>
          <a:noFill/>
          <a:ln/>
        </p:spPr>
        <p:txBody>
          <a:bodyPr wrap="square" lIns="0" tIns="0" rIns="0" bIns="0" rtlCol="0" anchor="t"/>
          <a:lstStyle/>
          <a:p>
            <a:pPr marL="0" indent="0">
              <a:buNone/>
            </a:pPr>
            <a:r>
              <a:rPr lang="en-US" sz="1100" b="1" kern="0" spc="200" dirty="0">
                <a:solidFill>
                  <a:srgbClr val="0891B2"/>
                </a:solidFill>
                <a:latin typeface="Calibri" pitchFamily="34" charset="0"/>
                <a:ea typeface="Calibri" pitchFamily="34" charset="-122"/>
                <a:cs typeface="Calibri" pitchFamily="34" charset="-120"/>
              </a:rPr>
              <a:t>THE INSTRUMENT</a:t>
            </a:r>
            <a:endParaRPr lang="en-US" sz="1100" dirty="0"/>
          </a:p>
        </p:txBody>
      </p:sp>
      <p:sp>
        <p:nvSpPr>
          <p:cNvPr id="3" name="Text 1"/>
          <p:cNvSpPr txBox="1"/>
          <p:nvPr/>
        </p:nvSpPr>
        <p:spPr>
          <a:xfrm>
            <a:off x="685800" y="658368"/>
            <a:ext cx="10881360" cy="777240"/>
          </a:xfrm>
          <a:prstGeom prst="rect">
            <a:avLst/>
          </a:prstGeom>
          <a:noFill/>
          <a:ln/>
        </p:spPr>
        <p:txBody>
          <a:bodyPr wrap="square" lIns="0" tIns="0" rIns="0" bIns="0" rtlCol="0" anchor="t"/>
          <a:lstStyle/>
          <a:p>
            <a:pPr marL="0" indent="0">
              <a:buNone/>
            </a:pPr>
            <a:r>
              <a:rPr lang="en-US" sz="3000" b="1" dirty="0">
                <a:solidFill>
                  <a:srgbClr val="0D2640"/>
                </a:solidFill>
                <a:latin typeface="Cambria" pitchFamily="34" charset="0"/>
                <a:ea typeface="Cambria" pitchFamily="34" charset="-122"/>
                <a:cs typeface="Cambria" pitchFamily="34" charset="-120"/>
              </a:rPr>
              <a:t>The Autonomy Index: 13 items, four domains, two modifiers</a:t>
            </a:r>
            <a:endParaRPr lang="en-US" sz="3000" dirty="0"/>
          </a:p>
        </p:txBody>
      </p:sp>
      <p:sp>
        <p:nvSpPr>
          <p:cNvPr id="4" name="Shape 2"/>
          <p:cNvSpPr/>
          <p:nvPr/>
        </p:nvSpPr>
        <p:spPr>
          <a:xfrm>
            <a:off x="685800" y="1965960"/>
            <a:ext cx="2514600" cy="2148840"/>
          </a:xfrm>
          <a:prstGeom prst="roundRect">
            <a:avLst>
              <a:gd name="adj" fmla="val 3404"/>
            </a:avLst>
          </a:prstGeom>
          <a:solidFill>
            <a:srgbClr val="FFFFFF"/>
          </a:solidFill>
          <a:ln w="12700">
            <a:solidFill>
              <a:srgbClr val="DCE5EB"/>
            </a:solidFill>
            <a:prstDash val="solid"/>
          </a:ln>
        </p:spPr>
        <p:txBody>
          <a:bodyPr/>
          <a:lstStyle/>
          <a:p>
            <a:endParaRPr lang="en-US"/>
          </a:p>
        </p:txBody>
      </p:sp>
      <p:sp>
        <p:nvSpPr>
          <p:cNvPr id="5" name="Text 3"/>
          <p:cNvSpPr txBox="1"/>
          <p:nvPr/>
        </p:nvSpPr>
        <p:spPr>
          <a:xfrm>
            <a:off x="868680" y="2148840"/>
            <a:ext cx="2148840" cy="594360"/>
          </a:xfrm>
          <a:prstGeom prst="rect">
            <a:avLst/>
          </a:prstGeom>
          <a:noFill/>
          <a:ln/>
        </p:spPr>
        <p:txBody>
          <a:bodyPr wrap="square" lIns="0" tIns="0" rIns="0" bIns="0" rtlCol="0" anchor="t"/>
          <a:lstStyle/>
          <a:p>
            <a:pPr marL="0" indent="0">
              <a:buNone/>
            </a:pPr>
            <a:r>
              <a:rPr lang="en-US" sz="1500" b="1" dirty="0">
                <a:solidFill>
                  <a:srgbClr val="0D2640"/>
                </a:solidFill>
                <a:latin typeface="Cambria" pitchFamily="34" charset="0"/>
                <a:ea typeface="Cambria" pitchFamily="34" charset="-122"/>
                <a:cs typeface="Cambria" pitchFamily="34" charset="-120"/>
              </a:rPr>
              <a:t>Values Awareness</a:t>
            </a:r>
            <a:endParaRPr lang="en-US" sz="1500" dirty="0"/>
          </a:p>
        </p:txBody>
      </p:sp>
      <p:sp>
        <p:nvSpPr>
          <p:cNvPr id="6" name="Text 4"/>
          <p:cNvSpPr txBox="1"/>
          <p:nvPr/>
        </p:nvSpPr>
        <p:spPr>
          <a:xfrm>
            <a:off x="868680" y="2724912"/>
            <a:ext cx="2148840" cy="228600"/>
          </a:xfrm>
          <a:prstGeom prst="rect">
            <a:avLst/>
          </a:prstGeom>
          <a:noFill/>
          <a:ln/>
        </p:spPr>
        <p:txBody>
          <a:bodyPr wrap="square" lIns="0" tIns="0" rIns="0" bIns="0" rtlCol="0" anchor="t"/>
          <a:lstStyle/>
          <a:p>
            <a:pPr marL="0" indent="0">
              <a:buNone/>
            </a:pPr>
            <a:r>
              <a:rPr lang="en-US" sz="1100" b="1" dirty="0">
                <a:solidFill>
                  <a:srgbClr val="0891B2"/>
                </a:solidFill>
                <a:latin typeface="Calibri" pitchFamily="34" charset="0"/>
                <a:ea typeface="Calibri" pitchFamily="34" charset="-122"/>
                <a:cs typeface="Calibri" pitchFamily="34" charset="-120"/>
              </a:rPr>
              <a:t>4 items</a:t>
            </a:r>
            <a:endParaRPr lang="en-US" sz="1100" dirty="0"/>
          </a:p>
        </p:txBody>
      </p:sp>
      <p:sp>
        <p:nvSpPr>
          <p:cNvPr id="7" name="Text 5"/>
          <p:cNvSpPr txBox="1"/>
          <p:nvPr/>
        </p:nvSpPr>
        <p:spPr>
          <a:xfrm>
            <a:off x="868680" y="2999232"/>
            <a:ext cx="2148840" cy="1005840"/>
          </a:xfrm>
          <a:prstGeom prst="rect">
            <a:avLst/>
          </a:prstGeom>
          <a:noFill/>
          <a:ln/>
        </p:spPr>
        <p:txBody>
          <a:bodyPr wrap="square" lIns="0" tIns="0" rIns="0" bIns="0" rtlCol="0" anchor="t"/>
          <a:lstStyle/>
          <a:p>
            <a:pPr marL="0" indent="0">
              <a:buNone/>
            </a:pPr>
            <a:r>
              <a:rPr lang="en-US" sz="1150" dirty="0">
                <a:solidFill>
                  <a:srgbClr val="5B7183"/>
                </a:solidFill>
                <a:latin typeface="Calibri" pitchFamily="34" charset="0"/>
                <a:ea typeface="Calibri" pitchFamily="34" charset="-122"/>
                <a:cs typeface="Calibri" pitchFamily="34" charset="-120"/>
              </a:rPr>
              <a:t>Clarity, stability, framework awareness, and recognition of the care team</a:t>
            </a:r>
            <a:endParaRPr lang="en-US" sz="1150" dirty="0"/>
          </a:p>
        </p:txBody>
      </p:sp>
      <p:sp>
        <p:nvSpPr>
          <p:cNvPr id="8" name="Shape 6"/>
          <p:cNvSpPr/>
          <p:nvPr/>
        </p:nvSpPr>
        <p:spPr>
          <a:xfrm>
            <a:off x="3337560" y="1965960"/>
            <a:ext cx="2514600" cy="2148840"/>
          </a:xfrm>
          <a:prstGeom prst="roundRect">
            <a:avLst>
              <a:gd name="adj" fmla="val 3404"/>
            </a:avLst>
          </a:prstGeom>
          <a:solidFill>
            <a:srgbClr val="FFFFFF"/>
          </a:solidFill>
          <a:ln w="12700">
            <a:solidFill>
              <a:srgbClr val="DCE5EB"/>
            </a:solidFill>
            <a:prstDash val="solid"/>
          </a:ln>
        </p:spPr>
        <p:txBody>
          <a:bodyPr/>
          <a:lstStyle/>
          <a:p>
            <a:endParaRPr lang="en-US"/>
          </a:p>
        </p:txBody>
      </p:sp>
      <p:sp>
        <p:nvSpPr>
          <p:cNvPr id="9" name="Text 7"/>
          <p:cNvSpPr txBox="1"/>
          <p:nvPr/>
        </p:nvSpPr>
        <p:spPr>
          <a:xfrm>
            <a:off x="3520440" y="2148840"/>
            <a:ext cx="2148840" cy="594360"/>
          </a:xfrm>
          <a:prstGeom prst="rect">
            <a:avLst/>
          </a:prstGeom>
          <a:noFill/>
          <a:ln/>
        </p:spPr>
        <p:txBody>
          <a:bodyPr wrap="square" lIns="0" tIns="0" rIns="0" bIns="0" rtlCol="0" anchor="t"/>
          <a:lstStyle/>
          <a:p>
            <a:pPr marL="0" indent="0">
              <a:buNone/>
            </a:pPr>
            <a:r>
              <a:rPr lang="en-US" sz="1500" b="1" dirty="0">
                <a:solidFill>
                  <a:srgbClr val="0D2640"/>
                </a:solidFill>
                <a:latin typeface="Cambria" pitchFamily="34" charset="0"/>
                <a:ea typeface="Cambria" pitchFamily="34" charset="-122"/>
                <a:cs typeface="Cambria" pitchFamily="34" charset="-120"/>
              </a:rPr>
              <a:t>Factual Understanding</a:t>
            </a:r>
            <a:endParaRPr lang="en-US" sz="1500" dirty="0"/>
          </a:p>
        </p:txBody>
      </p:sp>
      <p:sp>
        <p:nvSpPr>
          <p:cNvPr id="10" name="Text 8"/>
          <p:cNvSpPr txBox="1"/>
          <p:nvPr/>
        </p:nvSpPr>
        <p:spPr>
          <a:xfrm>
            <a:off x="3520440" y="2724912"/>
            <a:ext cx="2148840" cy="228600"/>
          </a:xfrm>
          <a:prstGeom prst="rect">
            <a:avLst/>
          </a:prstGeom>
          <a:noFill/>
          <a:ln/>
        </p:spPr>
        <p:txBody>
          <a:bodyPr wrap="square" lIns="0" tIns="0" rIns="0" bIns="0" rtlCol="0" anchor="t"/>
          <a:lstStyle/>
          <a:p>
            <a:pPr marL="0" indent="0">
              <a:buNone/>
            </a:pPr>
            <a:r>
              <a:rPr lang="en-US" sz="1100" b="1" dirty="0">
                <a:solidFill>
                  <a:srgbClr val="0891B2"/>
                </a:solidFill>
                <a:latin typeface="Calibri" pitchFamily="34" charset="0"/>
                <a:ea typeface="Calibri" pitchFamily="34" charset="-122"/>
                <a:cs typeface="Calibri" pitchFamily="34" charset="-120"/>
              </a:rPr>
              <a:t>3 items</a:t>
            </a:r>
            <a:endParaRPr lang="en-US" sz="1100" dirty="0"/>
          </a:p>
        </p:txBody>
      </p:sp>
      <p:sp>
        <p:nvSpPr>
          <p:cNvPr id="11" name="Text 9"/>
          <p:cNvSpPr txBox="1"/>
          <p:nvPr/>
        </p:nvSpPr>
        <p:spPr>
          <a:xfrm>
            <a:off x="3520440" y="2999232"/>
            <a:ext cx="2148840" cy="1005840"/>
          </a:xfrm>
          <a:prstGeom prst="rect">
            <a:avLst/>
          </a:prstGeom>
          <a:noFill/>
          <a:ln/>
        </p:spPr>
        <p:txBody>
          <a:bodyPr wrap="square" lIns="0" tIns="0" rIns="0" bIns="0" rtlCol="0" anchor="t"/>
          <a:lstStyle/>
          <a:p>
            <a:pPr marL="0" indent="0">
              <a:buNone/>
            </a:pPr>
            <a:r>
              <a:rPr lang="en-US" sz="1150" dirty="0">
                <a:solidFill>
                  <a:srgbClr val="5B7183"/>
                </a:solidFill>
                <a:latin typeface="Calibri" pitchFamily="34" charset="0"/>
                <a:ea typeface="Calibri" pitchFamily="34" charset="-122"/>
                <a:cs typeface="Calibri" pitchFamily="34" charset="-120"/>
              </a:rPr>
              <a:t>Recall of the condition and options, risk comprehension, applicability to self</a:t>
            </a:r>
            <a:endParaRPr lang="en-US" sz="1150" dirty="0"/>
          </a:p>
        </p:txBody>
      </p:sp>
      <p:sp>
        <p:nvSpPr>
          <p:cNvPr id="12" name="Shape 10"/>
          <p:cNvSpPr/>
          <p:nvPr/>
        </p:nvSpPr>
        <p:spPr>
          <a:xfrm>
            <a:off x="5989320" y="1965960"/>
            <a:ext cx="2514600" cy="2148840"/>
          </a:xfrm>
          <a:prstGeom prst="roundRect">
            <a:avLst>
              <a:gd name="adj" fmla="val 3404"/>
            </a:avLst>
          </a:prstGeom>
          <a:solidFill>
            <a:srgbClr val="FFFFFF"/>
          </a:solidFill>
          <a:ln w="12700">
            <a:solidFill>
              <a:srgbClr val="DCE5EB"/>
            </a:solidFill>
            <a:prstDash val="solid"/>
          </a:ln>
        </p:spPr>
        <p:txBody>
          <a:bodyPr/>
          <a:lstStyle/>
          <a:p>
            <a:endParaRPr lang="en-US"/>
          </a:p>
        </p:txBody>
      </p:sp>
      <p:sp>
        <p:nvSpPr>
          <p:cNvPr id="13" name="Text 11"/>
          <p:cNvSpPr txBox="1"/>
          <p:nvPr/>
        </p:nvSpPr>
        <p:spPr>
          <a:xfrm>
            <a:off x="6172200" y="2148840"/>
            <a:ext cx="2148840" cy="594360"/>
          </a:xfrm>
          <a:prstGeom prst="rect">
            <a:avLst/>
          </a:prstGeom>
          <a:noFill/>
          <a:ln/>
        </p:spPr>
        <p:txBody>
          <a:bodyPr wrap="square" lIns="0" tIns="0" rIns="0" bIns="0" rtlCol="0" anchor="t"/>
          <a:lstStyle/>
          <a:p>
            <a:pPr marL="0" indent="0">
              <a:buNone/>
            </a:pPr>
            <a:r>
              <a:rPr lang="en-US" sz="1500" b="1" dirty="0">
                <a:solidFill>
                  <a:srgbClr val="0D2640"/>
                </a:solidFill>
                <a:latin typeface="Cambria" pitchFamily="34" charset="0"/>
                <a:ea typeface="Cambria" pitchFamily="34" charset="-122"/>
                <a:cs typeface="Cambria" pitchFamily="34" charset="-120"/>
              </a:rPr>
              <a:t>Rational Deliberation</a:t>
            </a:r>
            <a:endParaRPr lang="en-US" sz="1500" dirty="0"/>
          </a:p>
        </p:txBody>
      </p:sp>
      <p:sp>
        <p:nvSpPr>
          <p:cNvPr id="14" name="Text 12"/>
          <p:cNvSpPr txBox="1"/>
          <p:nvPr/>
        </p:nvSpPr>
        <p:spPr>
          <a:xfrm>
            <a:off x="6172200" y="2724912"/>
            <a:ext cx="2148840" cy="228600"/>
          </a:xfrm>
          <a:prstGeom prst="rect">
            <a:avLst/>
          </a:prstGeom>
          <a:noFill/>
          <a:ln/>
        </p:spPr>
        <p:txBody>
          <a:bodyPr wrap="square" lIns="0" tIns="0" rIns="0" bIns="0" rtlCol="0" anchor="t"/>
          <a:lstStyle/>
          <a:p>
            <a:pPr marL="0" indent="0">
              <a:buNone/>
            </a:pPr>
            <a:r>
              <a:rPr lang="en-US" sz="1100" b="1" dirty="0">
                <a:solidFill>
                  <a:srgbClr val="0891B2"/>
                </a:solidFill>
                <a:latin typeface="Calibri" pitchFamily="34" charset="0"/>
                <a:ea typeface="Calibri" pitchFamily="34" charset="-122"/>
                <a:cs typeface="Calibri" pitchFamily="34" charset="-120"/>
              </a:rPr>
              <a:t>3 items</a:t>
            </a:r>
            <a:endParaRPr lang="en-US" sz="1100" dirty="0"/>
          </a:p>
        </p:txBody>
      </p:sp>
      <p:sp>
        <p:nvSpPr>
          <p:cNvPr id="15" name="Text 13"/>
          <p:cNvSpPr txBox="1"/>
          <p:nvPr/>
        </p:nvSpPr>
        <p:spPr>
          <a:xfrm>
            <a:off x="6172200" y="2999232"/>
            <a:ext cx="2148840" cy="1005840"/>
          </a:xfrm>
          <a:prstGeom prst="rect">
            <a:avLst/>
          </a:prstGeom>
          <a:noFill/>
          <a:ln/>
        </p:spPr>
        <p:txBody>
          <a:bodyPr wrap="square" lIns="0" tIns="0" rIns="0" bIns="0" rtlCol="0" anchor="t"/>
          <a:lstStyle/>
          <a:p>
            <a:pPr marL="0" indent="0">
              <a:buNone/>
            </a:pPr>
            <a:r>
              <a:rPr lang="en-US" sz="1150" dirty="0">
                <a:solidFill>
                  <a:srgbClr val="5B7183"/>
                </a:solidFill>
                <a:latin typeface="Calibri" pitchFamily="34" charset="0"/>
                <a:ea typeface="Calibri" pitchFamily="34" charset="-122"/>
                <a:cs typeface="Calibri" pitchFamily="34" charset="-120"/>
              </a:rPr>
              <a:t>Coherence, trade-off reasoning, consistency with stated values</a:t>
            </a:r>
            <a:endParaRPr lang="en-US" sz="1150" dirty="0"/>
          </a:p>
        </p:txBody>
      </p:sp>
      <p:sp>
        <p:nvSpPr>
          <p:cNvPr id="16" name="Shape 14"/>
          <p:cNvSpPr/>
          <p:nvPr/>
        </p:nvSpPr>
        <p:spPr>
          <a:xfrm>
            <a:off x="8641080" y="1965960"/>
            <a:ext cx="2514600" cy="2148840"/>
          </a:xfrm>
          <a:prstGeom prst="roundRect">
            <a:avLst>
              <a:gd name="adj" fmla="val 3404"/>
            </a:avLst>
          </a:prstGeom>
          <a:solidFill>
            <a:srgbClr val="FFFFFF"/>
          </a:solidFill>
          <a:ln w="12700">
            <a:solidFill>
              <a:srgbClr val="DCE5EB"/>
            </a:solidFill>
            <a:prstDash val="solid"/>
          </a:ln>
        </p:spPr>
        <p:txBody>
          <a:bodyPr/>
          <a:lstStyle/>
          <a:p>
            <a:endParaRPr lang="en-US"/>
          </a:p>
        </p:txBody>
      </p:sp>
      <p:sp>
        <p:nvSpPr>
          <p:cNvPr id="17" name="Text 15"/>
          <p:cNvSpPr txBox="1"/>
          <p:nvPr/>
        </p:nvSpPr>
        <p:spPr>
          <a:xfrm>
            <a:off x="8823960" y="2148840"/>
            <a:ext cx="2148840" cy="594360"/>
          </a:xfrm>
          <a:prstGeom prst="rect">
            <a:avLst/>
          </a:prstGeom>
          <a:noFill/>
          <a:ln/>
        </p:spPr>
        <p:txBody>
          <a:bodyPr wrap="square" lIns="0" tIns="0" rIns="0" bIns="0" rtlCol="0" anchor="t"/>
          <a:lstStyle/>
          <a:p>
            <a:pPr marL="0" indent="0">
              <a:buNone/>
            </a:pPr>
            <a:r>
              <a:rPr lang="en-US" sz="1500" b="1" dirty="0">
                <a:solidFill>
                  <a:srgbClr val="0D2640"/>
                </a:solidFill>
                <a:latin typeface="Cambria" pitchFamily="34" charset="0"/>
                <a:ea typeface="Cambria" pitchFamily="34" charset="-122"/>
                <a:cs typeface="Cambria" pitchFamily="34" charset="-120"/>
              </a:rPr>
              <a:t>Intentional Action</a:t>
            </a:r>
            <a:endParaRPr lang="en-US" sz="1500" dirty="0"/>
          </a:p>
        </p:txBody>
      </p:sp>
      <p:sp>
        <p:nvSpPr>
          <p:cNvPr id="18" name="Text 16"/>
          <p:cNvSpPr txBox="1"/>
          <p:nvPr/>
        </p:nvSpPr>
        <p:spPr>
          <a:xfrm>
            <a:off x="8823960" y="2724912"/>
            <a:ext cx="2148840" cy="228600"/>
          </a:xfrm>
          <a:prstGeom prst="rect">
            <a:avLst/>
          </a:prstGeom>
          <a:noFill/>
          <a:ln/>
        </p:spPr>
        <p:txBody>
          <a:bodyPr wrap="square" lIns="0" tIns="0" rIns="0" bIns="0" rtlCol="0" anchor="t"/>
          <a:lstStyle/>
          <a:p>
            <a:pPr marL="0" indent="0">
              <a:buNone/>
            </a:pPr>
            <a:r>
              <a:rPr lang="en-US" sz="1100" b="1" dirty="0">
                <a:solidFill>
                  <a:srgbClr val="0891B2"/>
                </a:solidFill>
                <a:latin typeface="Calibri" pitchFamily="34" charset="0"/>
                <a:ea typeface="Calibri" pitchFamily="34" charset="-122"/>
                <a:cs typeface="Calibri" pitchFamily="34" charset="-120"/>
              </a:rPr>
              <a:t>3 items</a:t>
            </a:r>
            <a:endParaRPr lang="en-US" sz="1100" dirty="0"/>
          </a:p>
        </p:txBody>
      </p:sp>
      <p:sp>
        <p:nvSpPr>
          <p:cNvPr id="19" name="Text 17"/>
          <p:cNvSpPr txBox="1"/>
          <p:nvPr/>
        </p:nvSpPr>
        <p:spPr>
          <a:xfrm>
            <a:off x="8823960" y="2999232"/>
            <a:ext cx="2148840" cy="1005840"/>
          </a:xfrm>
          <a:prstGeom prst="rect">
            <a:avLst/>
          </a:prstGeom>
          <a:noFill/>
          <a:ln/>
        </p:spPr>
        <p:txBody>
          <a:bodyPr wrap="square" lIns="0" tIns="0" rIns="0" bIns="0" rtlCol="0" anchor="t"/>
          <a:lstStyle/>
          <a:p>
            <a:pPr marL="0" indent="0">
              <a:buNone/>
            </a:pPr>
            <a:r>
              <a:rPr lang="en-US" sz="1150" dirty="0">
                <a:solidFill>
                  <a:srgbClr val="5B7183"/>
                </a:solidFill>
                <a:latin typeface="Calibri" pitchFamily="34" charset="0"/>
                <a:ea typeface="Calibri" pitchFamily="34" charset="-122"/>
                <a:cs typeface="Calibri" pitchFamily="34" charset="-120"/>
              </a:rPr>
              <a:t>Strength of intention, plan-fulness, follow-through feasibility</a:t>
            </a:r>
            <a:endParaRPr lang="en-US" sz="1150" dirty="0"/>
          </a:p>
        </p:txBody>
      </p:sp>
      <p:sp>
        <p:nvSpPr>
          <p:cNvPr id="20" name="Shape 18"/>
          <p:cNvSpPr/>
          <p:nvPr/>
        </p:nvSpPr>
        <p:spPr>
          <a:xfrm>
            <a:off x="685800" y="4434840"/>
            <a:ext cx="10835640" cy="1371600"/>
          </a:xfrm>
          <a:prstGeom prst="roundRect">
            <a:avLst>
              <a:gd name="adj" fmla="val 5333"/>
            </a:avLst>
          </a:prstGeom>
          <a:solidFill>
            <a:srgbClr val="E3F1F6"/>
          </a:solidFill>
          <a:ln w="12700">
            <a:solidFill>
              <a:srgbClr val="BFDCE6"/>
            </a:solidFill>
            <a:prstDash val="solid"/>
          </a:ln>
        </p:spPr>
        <p:txBody>
          <a:bodyPr/>
          <a:lstStyle/>
          <a:p>
            <a:endParaRPr lang="en-US"/>
          </a:p>
        </p:txBody>
      </p:sp>
      <p:sp>
        <p:nvSpPr>
          <p:cNvPr id="21" name="Text 19"/>
          <p:cNvSpPr txBox="1"/>
          <p:nvPr/>
        </p:nvSpPr>
        <p:spPr>
          <a:xfrm>
            <a:off x="960120" y="4572000"/>
            <a:ext cx="5486400" cy="274320"/>
          </a:xfrm>
          <a:prstGeom prst="rect">
            <a:avLst/>
          </a:prstGeom>
          <a:noFill/>
          <a:ln/>
        </p:spPr>
        <p:txBody>
          <a:bodyPr wrap="square" lIns="0" tIns="0" rIns="0" bIns="0" rtlCol="0" anchor="t"/>
          <a:lstStyle/>
          <a:p>
            <a:pPr marL="0" indent="0">
              <a:buNone/>
            </a:pPr>
            <a:r>
              <a:rPr lang="en-US" sz="1200" b="1" dirty="0">
                <a:solidFill>
                  <a:srgbClr val="0D2640"/>
                </a:solidFill>
                <a:latin typeface="Calibri" pitchFamily="34" charset="0"/>
                <a:ea typeface="Calibri" pitchFamily="34" charset="-122"/>
                <a:cs typeface="Calibri" pitchFamily="34" charset="-120"/>
              </a:rPr>
              <a:t>Reported alongside, never subtracted from the score</a:t>
            </a:r>
            <a:endParaRPr lang="en-US" sz="1200" dirty="0"/>
          </a:p>
        </p:txBody>
      </p:sp>
      <p:sp>
        <p:nvSpPr>
          <p:cNvPr id="22" name="Text 20"/>
          <p:cNvSpPr txBox="1"/>
          <p:nvPr/>
        </p:nvSpPr>
        <p:spPr>
          <a:xfrm>
            <a:off x="960120" y="4873752"/>
            <a:ext cx="10241280" cy="822960"/>
          </a:xfrm>
          <a:prstGeom prst="rect">
            <a:avLst/>
          </a:prstGeom>
          <a:noFill/>
          <a:ln/>
        </p:spPr>
        <p:txBody>
          <a:bodyPr wrap="square" lIns="0" tIns="0" rIns="0" bIns="0" rtlCol="0" anchor="t"/>
          <a:lstStyle/>
          <a:p>
            <a:pPr marL="0" indent="0">
              <a:buNone/>
            </a:pPr>
            <a:r>
              <a:rPr lang="en-US" sz="1300" dirty="0">
                <a:solidFill>
                  <a:srgbClr val="1A2733"/>
                </a:solidFill>
                <a:latin typeface="Calibri" pitchFamily="34" charset="0"/>
                <a:ea typeface="Calibri" pitchFamily="34" charset="-122"/>
                <a:cs typeface="Calibri" pitchFamily="34" charset="-120"/>
              </a:rPr>
              <a:t>External Constraint Index (ECI) and Support Provided Index (SPI), 0–100. Folding them into the composite would convert structural disadvantage into diminished measured autonomy, which is the error the framework exists to avoid.</a:t>
            </a:r>
            <a:endParaRPr lang="en-US" sz="1300" dirty="0"/>
          </a:p>
        </p:txBody>
      </p:sp>
      <p:sp>
        <p:nvSpPr>
          <p:cNvPr id="23" name="Text 21"/>
          <p:cNvSpPr txBox="1"/>
          <p:nvPr/>
        </p:nvSpPr>
        <p:spPr>
          <a:xfrm>
            <a:off x="685800" y="5989320"/>
            <a:ext cx="10515600" cy="320040"/>
          </a:xfrm>
          <a:prstGeom prst="rect">
            <a:avLst/>
          </a:prstGeom>
          <a:noFill/>
          <a:ln/>
        </p:spPr>
        <p:txBody>
          <a:bodyPr wrap="square" lIns="0" tIns="0" rIns="0" bIns="0" rtlCol="0" anchor="t"/>
          <a:lstStyle/>
          <a:p>
            <a:pPr marL="0" indent="0">
              <a:buNone/>
            </a:pPr>
            <a:r>
              <a:rPr lang="en-US" sz="1300" i="1" dirty="0">
                <a:solidFill>
                  <a:srgbClr val="C2683B"/>
                </a:solidFill>
                <a:latin typeface="Calibri" pitchFamily="34" charset="0"/>
                <a:ea typeface="Calibri" pitchFamily="34" charset="-122"/>
                <a:cs typeface="Calibri" pitchFamily="34" charset="-120"/>
              </a:rPr>
              <a:t>Every item also offers N/A — insufficient information in the case to judge. Remember this option.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384048"/>
            <a:ext cx="10058400" cy="256032"/>
          </a:xfrm>
          <a:prstGeom prst="rect">
            <a:avLst/>
          </a:prstGeom>
          <a:noFill/>
          <a:ln/>
        </p:spPr>
        <p:txBody>
          <a:bodyPr wrap="square" lIns="0" tIns="0" rIns="0" bIns="0" rtlCol="0" anchor="t"/>
          <a:lstStyle/>
          <a:p>
            <a:pPr marL="0" indent="0">
              <a:buNone/>
            </a:pPr>
            <a:r>
              <a:rPr lang="en-US" sz="1100" b="1" kern="0" spc="200" dirty="0">
                <a:solidFill>
                  <a:srgbClr val="0891B2"/>
                </a:solidFill>
                <a:latin typeface="Calibri" pitchFamily="34" charset="0"/>
                <a:ea typeface="Calibri" pitchFamily="34" charset="-122"/>
                <a:cs typeface="Calibri" pitchFamily="34" charset="-120"/>
              </a:rPr>
              <a:t>DESIGN</a:t>
            </a:r>
            <a:endParaRPr lang="en-US" sz="1100" dirty="0"/>
          </a:p>
        </p:txBody>
      </p:sp>
      <p:sp>
        <p:nvSpPr>
          <p:cNvPr id="3" name="Text 1"/>
          <p:cNvSpPr txBox="1"/>
          <p:nvPr/>
        </p:nvSpPr>
        <p:spPr>
          <a:xfrm>
            <a:off x="685800" y="658368"/>
            <a:ext cx="10881360" cy="777240"/>
          </a:xfrm>
          <a:prstGeom prst="rect">
            <a:avLst/>
          </a:prstGeom>
          <a:noFill/>
          <a:ln/>
        </p:spPr>
        <p:txBody>
          <a:bodyPr wrap="square" lIns="0" tIns="0" rIns="0" bIns="0" rtlCol="0" anchor="t"/>
          <a:lstStyle/>
          <a:p>
            <a:pPr marL="0" indent="0">
              <a:buNone/>
            </a:pPr>
            <a:r>
              <a:rPr lang="en-US" sz="3000" b="1" dirty="0">
                <a:solidFill>
                  <a:srgbClr val="0D2640"/>
                </a:solidFill>
                <a:latin typeface="Cambria" pitchFamily="34" charset="0"/>
                <a:ea typeface="Cambria" pitchFamily="34" charset="-122"/>
                <a:cs typeface="Cambria" pitchFamily="34" charset="-120"/>
              </a:rPr>
              <a:t>One instrument, two sources of judgment, the same 50 cases</a:t>
            </a:r>
            <a:endParaRPr lang="en-US" sz="3000" dirty="0"/>
          </a:p>
        </p:txBody>
      </p:sp>
      <p:sp>
        <p:nvSpPr>
          <p:cNvPr id="4" name="Text 2"/>
          <p:cNvSpPr txBox="1"/>
          <p:nvPr/>
        </p:nvSpPr>
        <p:spPr>
          <a:xfrm>
            <a:off x="685800" y="2011680"/>
            <a:ext cx="2468880" cy="777240"/>
          </a:xfrm>
          <a:prstGeom prst="rect">
            <a:avLst/>
          </a:prstGeom>
          <a:noFill/>
          <a:ln/>
        </p:spPr>
        <p:txBody>
          <a:bodyPr wrap="square" lIns="0" tIns="0" rIns="0" bIns="0" rtlCol="0" anchor="t"/>
          <a:lstStyle/>
          <a:p>
            <a:pPr marL="0" indent="0">
              <a:buNone/>
            </a:pPr>
            <a:r>
              <a:rPr lang="en-US" sz="4400" b="1" dirty="0">
                <a:solidFill>
                  <a:srgbClr val="0D2640"/>
                </a:solidFill>
                <a:latin typeface="Cambria" pitchFamily="34" charset="0"/>
                <a:ea typeface="Cambria" pitchFamily="34" charset="-122"/>
                <a:cs typeface="Cambria" pitchFamily="34" charset="-120"/>
              </a:rPr>
              <a:t>89</a:t>
            </a:r>
            <a:endParaRPr lang="en-US" sz="4400" dirty="0"/>
          </a:p>
        </p:txBody>
      </p:sp>
      <p:sp>
        <p:nvSpPr>
          <p:cNvPr id="5" name="Text 3"/>
          <p:cNvSpPr txBox="1"/>
          <p:nvPr/>
        </p:nvSpPr>
        <p:spPr>
          <a:xfrm>
            <a:off x="685800" y="2788920"/>
            <a:ext cx="2468880" cy="274320"/>
          </a:xfrm>
          <a:prstGeom prst="rect">
            <a:avLst/>
          </a:prstGeom>
          <a:noFill/>
          <a:ln/>
        </p:spPr>
        <p:txBody>
          <a:bodyPr wrap="square" lIns="0" tIns="0" rIns="0" bIns="0" rtlCol="0" anchor="t"/>
          <a:lstStyle/>
          <a:p>
            <a:pPr marL="0" indent="0">
              <a:buNone/>
            </a:pPr>
            <a:r>
              <a:rPr lang="en-US" sz="1400" b="1" dirty="0">
                <a:solidFill>
                  <a:srgbClr val="1A2733"/>
                </a:solidFill>
                <a:latin typeface="Calibri" pitchFamily="34" charset="0"/>
                <a:ea typeface="Calibri" pitchFamily="34" charset="-122"/>
                <a:cs typeface="Calibri" pitchFamily="34" charset="-120"/>
              </a:rPr>
              <a:t>vignettes</a:t>
            </a:r>
            <a:endParaRPr lang="en-US" sz="1400" dirty="0"/>
          </a:p>
        </p:txBody>
      </p:sp>
      <p:sp>
        <p:nvSpPr>
          <p:cNvPr id="6" name="Text 4"/>
          <p:cNvSpPr txBox="1"/>
          <p:nvPr/>
        </p:nvSpPr>
        <p:spPr>
          <a:xfrm>
            <a:off x="685800" y="3127248"/>
            <a:ext cx="2331720" cy="1188720"/>
          </a:xfrm>
          <a:prstGeom prst="rect">
            <a:avLst/>
          </a:prstGeom>
          <a:noFill/>
          <a:ln/>
        </p:spPr>
        <p:txBody>
          <a:bodyPr wrap="square" lIns="0" tIns="0" rIns="0" bIns="0" rtlCol="0" anchor="t"/>
          <a:lstStyle/>
          <a:p>
            <a:pPr marL="0" indent="0">
              <a:buNone/>
            </a:pPr>
            <a:r>
              <a:rPr lang="en-US" sz="1200" dirty="0">
                <a:solidFill>
                  <a:srgbClr val="5B7183"/>
                </a:solidFill>
                <a:latin typeface="Calibri" pitchFamily="34" charset="0"/>
                <a:ea typeface="Calibri" pitchFamily="34" charset="-122"/>
                <a:cs typeface="Calibri" pitchFamily="34" charset="-120"/>
              </a:rPr>
              <a:t>Published case reports and public-domain material, screened for genuine ethical tension</a:t>
            </a:r>
            <a:endParaRPr lang="en-US" sz="1200" dirty="0"/>
          </a:p>
        </p:txBody>
      </p:sp>
      <p:sp>
        <p:nvSpPr>
          <p:cNvPr id="7" name="Text 5"/>
          <p:cNvSpPr txBox="1"/>
          <p:nvPr/>
        </p:nvSpPr>
        <p:spPr>
          <a:xfrm>
            <a:off x="3081528" y="2121408"/>
            <a:ext cx="365760" cy="457200"/>
          </a:xfrm>
          <a:prstGeom prst="rect">
            <a:avLst/>
          </a:prstGeom>
          <a:noFill/>
          <a:ln/>
        </p:spPr>
        <p:txBody>
          <a:bodyPr wrap="square" lIns="0" tIns="0" rIns="0" bIns="0" rtlCol="0" anchor="t"/>
          <a:lstStyle/>
          <a:p>
            <a:pPr marL="0" indent="0">
              <a:buNone/>
            </a:pPr>
            <a:r>
              <a:rPr lang="en-US" sz="2200" dirty="0">
                <a:solidFill>
                  <a:srgbClr val="B8CAD6"/>
                </a:solidFill>
                <a:latin typeface="Calibri" pitchFamily="34" charset="0"/>
                <a:ea typeface="Calibri" pitchFamily="34" charset="-122"/>
                <a:cs typeface="Calibri" pitchFamily="34" charset="-120"/>
              </a:rPr>
              <a:t>→</a:t>
            </a:r>
            <a:endParaRPr lang="en-US" sz="2200" dirty="0"/>
          </a:p>
        </p:txBody>
      </p:sp>
      <p:sp>
        <p:nvSpPr>
          <p:cNvPr id="8" name="Text 6"/>
          <p:cNvSpPr txBox="1"/>
          <p:nvPr/>
        </p:nvSpPr>
        <p:spPr>
          <a:xfrm>
            <a:off x="3474720" y="2011680"/>
            <a:ext cx="2468880" cy="777240"/>
          </a:xfrm>
          <a:prstGeom prst="rect">
            <a:avLst/>
          </a:prstGeom>
          <a:noFill/>
          <a:ln/>
        </p:spPr>
        <p:txBody>
          <a:bodyPr wrap="square" lIns="0" tIns="0" rIns="0" bIns="0" rtlCol="0" anchor="t"/>
          <a:lstStyle/>
          <a:p>
            <a:pPr marL="0" indent="0">
              <a:buNone/>
            </a:pPr>
            <a:r>
              <a:rPr lang="en-US" sz="4400" b="1" dirty="0">
                <a:solidFill>
                  <a:srgbClr val="0D2640"/>
                </a:solidFill>
                <a:latin typeface="Cambria" pitchFamily="34" charset="0"/>
                <a:ea typeface="Cambria" pitchFamily="34" charset="-122"/>
                <a:cs typeface="Cambria" pitchFamily="34" charset="-120"/>
              </a:rPr>
              <a:t>50</a:t>
            </a:r>
            <a:endParaRPr lang="en-US" sz="4400" dirty="0"/>
          </a:p>
        </p:txBody>
      </p:sp>
      <p:sp>
        <p:nvSpPr>
          <p:cNvPr id="9" name="Text 7"/>
          <p:cNvSpPr txBox="1"/>
          <p:nvPr/>
        </p:nvSpPr>
        <p:spPr>
          <a:xfrm>
            <a:off x="3474720" y="2788920"/>
            <a:ext cx="2468880" cy="274320"/>
          </a:xfrm>
          <a:prstGeom prst="rect">
            <a:avLst/>
          </a:prstGeom>
          <a:noFill/>
          <a:ln/>
        </p:spPr>
        <p:txBody>
          <a:bodyPr wrap="square" lIns="0" tIns="0" rIns="0" bIns="0" rtlCol="0" anchor="t"/>
          <a:lstStyle/>
          <a:p>
            <a:pPr marL="0" indent="0">
              <a:buNone/>
            </a:pPr>
            <a:r>
              <a:rPr lang="en-US" sz="1400" b="1" dirty="0">
                <a:solidFill>
                  <a:srgbClr val="1A2733"/>
                </a:solidFill>
                <a:latin typeface="Calibri" pitchFamily="34" charset="0"/>
                <a:ea typeface="Calibri" pitchFamily="34" charset="-122"/>
                <a:cs typeface="Calibri" pitchFamily="34" charset="-120"/>
              </a:rPr>
              <a:t>selected</a:t>
            </a:r>
            <a:endParaRPr lang="en-US" sz="1400" dirty="0"/>
          </a:p>
        </p:txBody>
      </p:sp>
      <p:sp>
        <p:nvSpPr>
          <p:cNvPr id="10" name="Text 8"/>
          <p:cNvSpPr txBox="1"/>
          <p:nvPr/>
        </p:nvSpPr>
        <p:spPr>
          <a:xfrm>
            <a:off x="3474720" y="3127248"/>
            <a:ext cx="2331720" cy="1188720"/>
          </a:xfrm>
          <a:prstGeom prst="rect">
            <a:avLst/>
          </a:prstGeom>
          <a:noFill/>
          <a:ln/>
        </p:spPr>
        <p:txBody>
          <a:bodyPr wrap="square" lIns="0" tIns="0" rIns="0" bIns="0" rtlCol="0" anchor="t"/>
          <a:lstStyle/>
          <a:p>
            <a:pPr marL="0" indent="0">
              <a:buNone/>
            </a:pPr>
            <a:r>
              <a:rPr lang="en-US" sz="1200" dirty="0">
                <a:solidFill>
                  <a:srgbClr val="5B7183"/>
                </a:solidFill>
                <a:latin typeface="Calibri" pitchFamily="34" charset="0"/>
                <a:ea typeface="Calibri" pitchFamily="34" charset="-122"/>
                <a:cs typeface="Calibri" pitchFamily="34" charset="-120"/>
              </a:rPr>
              <a:t>Stratified on March model scores across five score tiers and three disagreement strata</a:t>
            </a:r>
            <a:endParaRPr lang="en-US" sz="1200" dirty="0"/>
          </a:p>
        </p:txBody>
      </p:sp>
      <p:sp>
        <p:nvSpPr>
          <p:cNvPr id="11" name="Text 9"/>
          <p:cNvSpPr txBox="1"/>
          <p:nvPr/>
        </p:nvSpPr>
        <p:spPr>
          <a:xfrm>
            <a:off x="5870448" y="2121408"/>
            <a:ext cx="365760" cy="457200"/>
          </a:xfrm>
          <a:prstGeom prst="rect">
            <a:avLst/>
          </a:prstGeom>
          <a:noFill/>
          <a:ln/>
        </p:spPr>
        <p:txBody>
          <a:bodyPr wrap="square" lIns="0" tIns="0" rIns="0" bIns="0" rtlCol="0" anchor="t"/>
          <a:lstStyle/>
          <a:p>
            <a:pPr marL="0" indent="0">
              <a:buNone/>
            </a:pPr>
            <a:r>
              <a:rPr lang="en-US" sz="2200" dirty="0">
                <a:solidFill>
                  <a:srgbClr val="B8CAD6"/>
                </a:solidFill>
                <a:latin typeface="Calibri" pitchFamily="34" charset="0"/>
                <a:ea typeface="Calibri" pitchFamily="34" charset="-122"/>
                <a:cs typeface="Calibri" pitchFamily="34" charset="-120"/>
              </a:rPr>
              <a:t>→</a:t>
            </a:r>
            <a:endParaRPr lang="en-US" sz="2200" dirty="0"/>
          </a:p>
        </p:txBody>
      </p:sp>
      <p:sp>
        <p:nvSpPr>
          <p:cNvPr id="12" name="Text 10"/>
          <p:cNvSpPr txBox="1"/>
          <p:nvPr/>
        </p:nvSpPr>
        <p:spPr>
          <a:xfrm>
            <a:off x="6263640" y="2011680"/>
            <a:ext cx="2468880" cy="777240"/>
          </a:xfrm>
          <a:prstGeom prst="rect">
            <a:avLst/>
          </a:prstGeom>
          <a:noFill/>
          <a:ln/>
        </p:spPr>
        <p:txBody>
          <a:bodyPr wrap="square" lIns="0" tIns="0" rIns="0" bIns="0" rtlCol="0" anchor="t"/>
          <a:lstStyle/>
          <a:p>
            <a:pPr marL="0" indent="0">
              <a:buNone/>
            </a:pPr>
            <a:r>
              <a:rPr lang="en-US" sz="4400" b="1" dirty="0">
                <a:solidFill>
                  <a:srgbClr val="0891B2"/>
                </a:solidFill>
                <a:latin typeface="Cambria" pitchFamily="34" charset="0"/>
                <a:ea typeface="Cambria" pitchFamily="34" charset="-122"/>
                <a:cs typeface="Cambria" pitchFamily="34" charset="-120"/>
              </a:rPr>
              <a:t>175</a:t>
            </a:r>
            <a:endParaRPr lang="en-US" sz="4400" dirty="0"/>
          </a:p>
        </p:txBody>
      </p:sp>
      <p:sp>
        <p:nvSpPr>
          <p:cNvPr id="13" name="Text 11"/>
          <p:cNvSpPr txBox="1"/>
          <p:nvPr/>
        </p:nvSpPr>
        <p:spPr>
          <a:xfrm>
            <a:off x="6263640" y="2788920"/>
            <a:ext cx="2468880" cy="274320"/>
          </a:xfrm>
          <a:prstGeom prst="rect">
            <a:avLst/>
          </a:prstGeom>
          <a:noFill/>
          <a:ln/>
        </p:spPr>
        <p:txBody>
          <a:bodyPr wrap="square" lIns="0" tIns="0" rIns="0" bIns="0" rtlCol="0" anchor="t"/>
          <a:lstStyle/>
          <a:p>
            <a:pPr marL="0" indent="0">
              <a:buNone/>
            </a:pPr>
            <a:r>
              <a:rPr lang="en-US" sz="1400" b="1" dirty="0">
                <a:solidFill>
                  <a:srgbClr val="1A2733"/>
                </a:solidFill>
                <a:latin typeface="Calibri" pitchFamily="34" charset="0"/>
                <a:ea typeface="Calibri" pitchFamily="34" charset="-122"/>
                <a:cs typeface="Calibri" pitchFamily="34" charset="-120"/>
              </a:rPr>
              <a:t>human ratings</a:t>
            </a:r>
            <a:endParaRPr lang="en-US" sz="1400" dirty="0"/>
          </a:p>
        </p:txBody>
      </p:sp>
      <p:sp>
        <p:nvSpPr>
          <p:cNvPr id="14" name="Text 12"/>
          <p:cNvSpPr txBox="1"/>
          <p:nvPr/>
        </p:nvSpPr>
        <p:spPr>
          <a:xfrm>
            <a:off x="6263640" y="3127248"/>
            <a:ext cx="2331720" cy="1188720"/>
          </a:xfrm>
          <a:prstGeom prst="rect">
            <a:avLst/>
          </a:prstGeom>
          <a:noFill/>
          <a:ln/>
        </p:spPr>
        <p:txBody>
          <a:bodyPr wrap="square" lIns="0" tIns="0" rIns="0" bIns="0" rtlCol="0" anchor="t"/>
          <a:lstStyle/>
          <a:p>
            <a:pPr marL="0" indent="0">
              <a:buNone/>
            </a:pPr>
            <a:r>
              <a:rPr lang="en-US" sz="1200" dirty="0">
                <a:solidFill>
                  <a:srgbClr val="5B7183"/>
                </a:solidFill>
                <a:latin typeface="Calibri" pitchFamily="34" charset="0"/>
                <a:ea typeface="Calibri" pitchFamily="34" charset="-122"/>
                <a:cs typeface="Calibri" pitchFamily="34" charset="-120"/>
              </a:rPr>
              <a:t>30 bioethics-trained reviewers, median 3 per vignette, blind to model output</a:t>
            </a:r>
            <a:endParaRPr lang="en-US" sz="1200" dirty="0"/>
          </a:p>
        </p:txBody>
      </p:sp>
      <p:sp>
        <p:nvSpPr>
          <p:cNvPr id="15" name="Text 13"/>
          <p:cNvSpPr txBox="1"/>
          <p:nvPr/>
        </p:nvSpPr>
        <p:spPr>
          <a:xfrm>
            <a:off x="8659368" y="2121408"/>
            <a:ext cx="365760" cy="457200"/>
          </a:xfrm>
          <a:prstGeom prst="rect">
            <a:avLst/>
          </a:prstGeom>
          <a:noFill/>
          <a:ln/>
        </p:spPr>
        <p:txBody>
          <a:bodyPr wrap="square" lIns="0" tIns="0" rIns="0" bIns="0" rtlCol="0" anchor="t"/>
          <a:lstStyle/>
          <a:p>
            <a:pPr marL="0" indent="0">
              <a:buNone/>
            </a:pPr>
            <a:r>
              <a:rPr lang="en-US" sz="2200" dirty="0">
                <a:solidFill>
                  <a:srgbClr val="B8CAD6"/>
                </a:solidFill>
                <a:latin typeface="Calibri" pitchFamily="34" charset="0"/>
                <a:ea typeface="Calibri" pitchFamily="34" charset="-122"/>
                <a:cs typeface="Calibri" pitchFamily="34" charset="-120"/>
              </a:rPr>
              <a:t>→</a:t>
            </a:r>
            <a:endParaRPr lang="en-US" sz="2200" dirty="0"/>
          </a:p>
        </p:txBody>
      </p:sp>
      <p:sp>
        <p:nvSpPr>
          <p:cNvPr id="16" name="Text 14"/>
          <p:cNvSpPr txBox="1"/>
          <p:nvPr/>
        </p:nvSpPr>
        <p:spPr>
          <a:xfrm>
            <a:off x="9052560" y="2011680"/>
            <a:ext cx="2468880" cy="777240"/>
          </a:xfrm>
          <a:prstGeom prst="rect">
            <a:avLst/>
          </a:prstGeom>
          <a:noFill/>
          <a:ln/>
        </p:spPr>
        <p:txBody>
          <a:bodyPr wrap="square" lIns="0" tIns="0" rIns="0" bIns="0" rtlCol="0" anchor="t"/>
          <a:lstStyle/>
          <a:p>
            <a:pPr marL="0" indent="0">
              <a:buNone/>
            </a:pPr>
            <a:r>
              <a:rPr lang="en-US" sz="4400" b="1" dirty="0">
                <a:solidFill>
                  <a:srgbClr val="0891B2"/>
                </a:solidFill>
                <a:latin typeface="Cambria" pitchFamily="34" charset="0"/>
                <a:ea typeface="Cambria" pitchFamily="34" charset="-122"/>
                <a:cs typeface="Cambria" pitchFamily="34" charset="-120"/>
              </a:rPr>
              <a:t>3,431</a:t>
            </a:r>
            <a:endParaRPr lang="en-US" sz="4400" dirty="0"/>
          </a:p>
        </p:txBody>
      </p:sp>
      <p:sp>
        <p:nvSpPr>
          <p:cNvPr id="17" name="Text 15"/>
          <p:cNvSpPr txBox="1"/>
          <p:nvPr/>
        </p:nvSpPr>
        <p:spPr>
          <a:xfrm>
            <a:off x="9052560" y="2788920"/>
            <a:ext cx="2468880" cy="274320"/>
          </a:xfrm>
          <a:prstGeom prst="rect">
            <a:avLst/>
          </a:prstGeom>
          <a:noFill/>
          <a:ln/>
        </p:spPr>
        <p:txBody>
          <a:bodyPr wrap="square" lIns="0" tIns="0" rIns="0" bIns="0" rtlCol="0" anchor="t"/>
          <a:lstStyle/>
          <a:p>
            <a:pPr marL="0" indent="0">
              <a:buNone/>
            </a:pPr>
            <a:r>
              <a:rPr lang="en-US" sz="1400" b="1" dirty="0">
                <a:solidFill>
                  <a:srgbClr val="1A2733"/>
                </a:solidFill>
                <a:latin typeface="Calibri" pitchFamily="34" charset="0"/>
                <a:ea typeface="Calibri" pitchFamily="34" charset="-122"/>
                <a:cs typeface="Calibri" pitchFamily="34" charset="-120"/>
              </a:rPr>
              <a:t>model scorings</a:t>
            </a:r>
            <a:endParaRPr lang="en-US" sz="1400" dirty="0"/>
          </a:p>
        </p:txBody>
      </p:sp>
      <p:sp>
        <p:nvSpPr>
          <p:cNvPr id="18" name="Text 16"/>
          <p:cNvSpPr txBox="1"/>
          <p:nvPr/>
        </p:nvSpPr>
        <p:spPr>
          <a:xfrm>
            <a:off x="9052560" y="3127248"/>
            <a:ext cx="2331720" cy="1188720"/>
          </a:xfrm>
          <a:prstGeom prst="rect">
            <a:avLst/>
          </a:prstGeom>
          <a:noFill/>
          <a:ln/>
        </p:spPr>
        <p:txBody>
          <a:bodyPr wrap="square" lIns="0" tIns="0" rIns="0" bIns="0" rtlCol="0" anchor="t"/>
          <a:lstStyle/>
          <a:p>
            <a:pPr marL="0" indent="0">
              <a:buNone/>
            </a:pPr>
            <a:r>
              <a:rPr lang="en-US" sz="1200" dirty="0">
                <a:solidFill>
                  <a:srgbClr val="5B7183"/>
                </a:solidFill>
                <a:latin typeface="Calibri" pitchFamily="34" charset="0"/>
                <a:ea typeface="Calibri" pitchFamily="34" charset="-122"/>
                <a:cs typeface="Calibri" pitchFamily="34" charset="-120"/>
              </a:rPr>
              <a:t>8 current models × 10 runs, identical prompt, provider pinned, July 2026</a:t>
            </a:r>
            <a:endParaRPr lang="en-US" sz="1200" dirty="0"/>
          </a:p>
        </p:txBody>
      </p:sp>
      <p:sp>
        <p:nvSpPr>
          <p:cNvPr id="19" name="Shape 17"/>
          <p:cNvSpPr/>
          <p:nvPr/>
        </p:nvSpPr>
        <p:spPr>
          <a:xfrm>
            <a:off x="685800" y="4572000"/>
            <a:ext cx="10835640" cy="1417320"/>
          </a:xfrm>
          <a:prstGeom prst="roundRect">
            <a:avLst>
              <a:gd name="adj" fmla="val 5161"/>
            </a:avLst>
          </a:prstGeom>
          <a:solidFill>
            <a:srgbClr val="F4F7F9"/>
          </a:solidFill>
          <a:ln w="12700">
            <a:solidFill>
              <a:srgbClr val="DCE5EB"/>
            </a:solidFill>
            <a:prstDash val="solid"/>
          </a:ln>
        </p:spPr>
        <p:txBody>
          <a:bodyPr/>
          <a:lstStyle/>
          <a:p>
            <a:endParaRPr lang="en-US"/>
          </a:p>
        </p:txBody>
      </p:sp>
      <p:sp>
        <p:nvSpPr>
          <p:cNvPr id="20" name="Text 18"/>
          <p:cNvSpPr txBox="1"/>
          <p:nvPr/>
        </p:nvSpPr>
        <p:spPr>
          <a:xfrm>
            <a:off x="960120" y="4736592"/>
            <a:ext cx="6400800" cy="292608"/>
          </a:xfrm>
          <a:prstGeom prst="rect">
            <a:avLst/>
          </a:prstGeom>
          <a:noFill/>
          <a:ln/>
        </p:spPr>
        <p:txBody>
          <a:bodyPr wrap="square" lIns="0" tIns="0" rIns="0" bIns="0" rtlCol="0" anchor="t"/>
          <a:lstStyle/>
          <a:p>
            <a:pPr marL="0" indent="0">
              <a:buNone/>
            </a:pPr>
            <a:r>
              <a:rPr lang="en-US" sz="1400" b="1" dirty="0">
                <a:solidFill>
                  <a:srgbClr val="0D2640"/>
                </a:solidFill>
                <a:latin typeface="Cambria" pitchFamily="34" charset="0"/>
                <a:ea typeface="Cambria" pitchFamily="34" charset="-122"/>
                <a:cs typeface="Cambria" pitchFamily="34" charset="-120"/>
              </a:rPr>
              <a:t>Both sources performed an identical task</a:t>
            </a:r>
            <a:endParaRPr lang="en-US" sz="1400" dirty="0"/>
          </a:p>
        </p:txBody>
      </p:sp>
      <p:sp>
        <p:nvSpPr>
          <p:cNvPr id="21" name="Text 19"/>
          <p:cNvSpPr txBox="1"/>
          <p:nvPr/>
        </p:nvSpPr>
        <p:spPr>
          <a:xfrm>
            <a:off x="960120" y="5047488"/>
            <a:ext cx="10241280" cy="822960"/>
          </a:xfrm>
          <a:prstGeom prst="rect">
            <a:avLst/>
          </a:prstGeom>
          <a:noFill/>
          <a:ln/>
        </p:spPr>
        <p:txBody>
          <a:bodyPr wrap="square" lIns="0" tIns="0" rIns="0" bIns="0" rtlCol="0" anchor="t"/>
          <a:lstStyle/>
          <a:p>
            <a:pPr marL="0" indent="0">
              <a:buNone/>
            </a:pPr>
            <a:r>
              <a:rPr lang="en-US" sz="1300" dirty="0">
                <a:solidFill>
                  <a:srgbClr val="1A2733"/>
                </a:solidFill>
                <a:latin typeface="Calibri" pitchFamily="34" charset="0"/>
                <a:ea typeface="Calibri" pitchFamily="34" charset="-122"/>
                <a:cs typeface="Calibri" pitchFamily="34" charset="-120"/>
              </a:rPr>
              <a:t>Same vignette text, same 13 items, same response scale including N/A, same aggregation rule. Differences are attributable to the rater, not to stimulus, instrument, or response format. Human ratings are a reference standard, not ground truth — the design cannot say who is right where they differ.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2640"/>
        </a:solidFill>
        <a:effectLst/>
      </p:bgPr>
    </p:bg>
    <p:spTree>
      <p:nvGrpSpPr>
        <p:cNvPr id="1" name=""/>
        <p:cNvGrpSpPr/>
        <p:nvPr/>
      </p:nvGrpSpPr>
      <p:grpSpPr>
        <a:xfrm>
          <a:off x="0" y="0"/>
          <a:ext cx="0" cy="0"/>
          <a:chOff x="0" y="0"/>
          <a:chExt cx="0" cy="0"/>
        </a:xfrm>
      </p:grpSpPr>
      <p:sp>
        <p:nvSpPr>
          <p:cNvPr id="2" name="Text 0"/>
          <p:cNvSpPr txBox="1"/>
          <p:nvPr/>
        </p:nvSpPr>
        <p:spPr>
          <a:xfrm>
            <a:off x="685800" y="685800"/>
            <a:ext cx="7315200" cy="274320"/>
          </a:xfrm>
          <a:prstGeom prst="rect">
            <a:avLst/>
          </a:prstGeom>
          <a:noFill/>
          <a:ln/>
        </p:spPr>
        <p:txBody>
          <a:bodyPr wrap="square" lIns="0" tIns="0" rIns="0" bIns="0" rtlCol="0" anchor="t"/>
          <a:lstStyle/>
          <a:p>
            <a:pPr marL="0" indent="0">
              <a:buNone/>
            </a:pPr>
            <a:r>
              <a:rPr lang="en-US" sz="1100" b="1" kern="0" spc="200" dirty="0">
                <a:solidFill>
                  <a:srgbClr val="0891B2"/>
                </a:solidFill>
                <a:latin typeface="Calibri" pitchFamily="34" charset="0"/>
                <a:ea typeface="Calibri" pitchFamily="34" charset="-122"/>
                <a:cs typeface="Calibri" pitchFamily="34" charset="-120"/>
              </a:rPr>
              <a:t>THREE FINDINGS</a:t>
            </a:r>
            <a:endParaRPr lang="en-US" sz="1100" dirty="0"/>
          </a:p>
        </p:txBody>
      </p:sp>
      <p:sp>
        <p:nvSpPr>
          <p:cNvPr id="3" name="Text 1"/>
          <p:cNvSpPr txBox="1"/>
          <p:nvPr/>
        </p:nvSpPr>
        <p:spPr>
          <a:xfrm>
            <a:off x="685800" y="987552"/>
            <a:ext cx="10058400" cy="64008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What the study shows</a:t>
            </a:r>
            <a:endParaRPr lang="en-US" sz="3200" dirty="0"/>
          </a:p>
        </p:txBody>
      </p:sp>
      <p:sp>
        <p:nvSpPr>
          <p:cNvPr id="4" name="Shape 2"/>
          <p:cNvSpPr/>
          <p:nvPr/>
        </p:nvSpPr>
        <p:spPr>
          <a:xfrm>
            <a:off x="685800" y="2148840"/>
            <a:ext cx="3456432" cy="2606040"/>
          </a:xfrm>
          <a:prstGeom prst="roundRect">
            <a:avLst>
              <a:gd name="adj" fmla="val 2807"/>
            </a:avLst>
          </a:prstGeom>
          <a:solidFill>
            <a:srgbClr val="1B4463"/>
          </a:solidFill>
          <a:ln w="12700">
            <a:solidFill>
              <a:srgbClr val="2C5A7C"/>
            </a:solidFill>
            <a:prstDash val="solid"/>
          </a:ln>
        </p:spPr>
        <p:txBody>
          <a:bodyPr/>
          <a:lstStyle/>
          <a:p>
            <a:endParaRPr lang="en-US"/>
          </a:p>
        </p:txBody>
      </p:sp>
      <p:sp>
        <p:nvSpPr>
          <p:cNvPr id="6" name="Text 4"/>
          <p:cNvSpPr txBox="1"/>
          <p:nvPr/>
        </p:nvSpPr>
        <p:spPr>
          <a:xfrm>
            <a:off x="818513" y="2361259"/>
            <a:ext cx="3598039" cy="566928"/>
          </a:xfrm>
          <a:prstGeom prst="rect">
            <a:avLst/>
          </a:prstGeom>
          <a:noFill/>
          <a:ln/>
        </p:spPr>
        <p:txBody>
          <a:bodyPr wrap="square" lIns="0" tIns="0" rIns="0" bIns="0" rtlCol="0" anchor="t"/>
          <a:lstStyle/>
          <a:p>
            <a:pPr indent="0">
              <a:buNone/>
            </a:pPr>
            <a:r>
              <a:rPr lang="en-US" sz="2800" b="1" dirty="0">
                <a:solidFill>
                  <a:schemeClr val="bg1"/>
                </a:solidFill>
                <a:latin typeface="Cambria" pitchFamily="34" charset="0"/>
              </a:rPr>
              <a:t>Human Reviewers show higher autonomy than models</a:t>
            </a:r>
          </a:p>
        </p:txBody>
      </p:sp>
      <p:sp>
        <p:nvSpPr>
          <p:cNvPr id="8" name="Shape 6"/>
          <p:cNvSpPr/>
          <p:nvPr/>
        </p:nvSpPr>
        <p:spPr>
          <a:xfrm>
            <a:off x="4361688" y="2148840"/>
            <a:ext cx="3456432" cy="2606040"/>
          </a:xfrm>
          <a:prstGeom prst="roundRect">
            <a:avLst>
              <a:gd name="adj" fmla="val 2807"/>
            </a:avLst>
          </a:prstGeom>
          <a:solidFill>
            <a:srgbClr val="1B4463"/>
          </a:solidFill>
          <a:ln w="12700">
            <a:solidFill>
              <a:srgbClr val="2C5A7C"/>
            </a:solidFill>
            <a:prstDash val="solid"/>
          </a:ln>
        </p:spPr>
        <p:txBody>
          <a:bodyPr/>
          <a:lstStyle/>
          <a:p>
            <a:endParaRPr lang="en-US"/>
          </a:p>
        </p:txBody>
      </p:sp>
      <p:sp>
        <p:nvSpPr>
          <p:cNvPr id="10" name="Text 8"/>
          <p:cNvSpPr txBox="1"/>
          <p:nvPr/>
        </p:nvSpPr>
        <p:spPr>
          <a:xfrm>
            <a:off x="4526279" y="2441448"/>
            <a:ext cx="3249171" cy="326804"/>
          </a:xfrm>
          <a:prstGeom prst="rect">
            <a:avLst/>
          </a:prstGeom>
          <a:noFill/>
          <a:ln/>
        </p:spPr>
        <p:txBody>
          <a:bodyPr wrap="square" lIns="0" tIns="0" rIns="0" bIns="0" rtlCol="0" anchor="t"/>
          <a:lstStyle/>
          <a:p>
            <a:r>
              <a:rPr lang="en-US" sz="2800" b="1" dirty="0">
                <a:solidFill>
                  <a:schemeClr val="bg1"/>
                </a:solidFill>
                <a:latin typeface="Cambria" pitchFamily="34" charset="0"/>
              </a:rPr>
              <a:t>Human Reviewers show more variability than Models </a:t>
            </a:r>
          </a:p>
        </p:txBody>
      </p:sp>
      <p:sp>
        <p:nvSpPr>
          <p:cNvPr id="12" name="Shape 10"/>
          <p:cNvSpPr/>
          <p:nvPr/>
        </p:nvSpPr>
        <p:spPr>
          <a:xfrm>
            <a:off x="8037576" y="2148840"/>
            <a:ext cx="3456432" cy="2606040"/>
          </a:xfrm>
          <a:prstGeom prst="roundRect">
            <a:avLst>
              <a:gd name="adj" fmla="val 2807"/>
            </a:avLst>
          </a:prstGeom>
          <a:solidFill>
            <a:srgbClr val="1B4463"/>
          </a:solidFill>
          <a:ln w="12700">
            <a:solidFill>
              <a:srgbClr val="2C5A7C"/>
            </a:solidFill>
            <a:prstDash val="solid"/>
          </a:ln>
        </p:spPr>
        <p:txBody>
          <a:bodyPr/>
          <a:lstStyle/>
          <a:p>
            <a:endParaRPr lang="en-US"/>
          </a:p>
        </p:txBody>
      </p:sp>
      <p:sp>
        <p:nvSpPr>
          <p:cNvPr id="14" name="Text 12"/>
          <p:cNvSpPr txBox="1"/>
          <p:nvPr/>
        </p:nvSpPr>
        <p:spPr>
          <a:xfrm>
            <a:off x="8215070" y="2390217"/>
            <a:ext cx="2926080" cy="292608"/>
          </a:xfrm>
          <a:prstGeom prst="rect">
            <a:avLst/>
          </a:prstGeom>
          <a:noFill/>
          <a:ln/>
        </p:spPr>
        <p:txBody>
          <a:bodyPr wrap="square" lIns="0" tIns="0" rIns="0" bIns="0" rtlCol="0" anchor="t"/>
          <a:lstStyle/>
          <a:p>
            <a:r>
              <a:rPr lang="en-US" sz="2800" b="1" dirty="0">
                <a:solidFill>
                  <a:schemeClr val="bg1"/>
                </a:solidFill>
                <a:latin typeface="Cambria" pitchFamily="34" charset="0"/>
              </a:rPr>
              <a:t>Humans decline to score what the vignette does not show; current models never do. </a:t>
            </a:r>
          </a:p>
        </p:txBody>
      </p:sp>
      <p:sp>
        <p:nvSpPr>
          <p:cNvPr id="16" name="Text 14"/>
          <p:cNvSpPr txBox="1"/>
          <p:nvPr/>
        </p:nvSpPr>
        <p:spPr>
          <a:xfrm>
            <a:off x="685800" y="5715000"/>
            <a:ext cx="10607040" cy="365760"/>
          </a:xfrm>
          <a:prstGeom prst="rect">
            <a:avLst/>
          </a:prstGeom>
          <a:noFill/>
          <a:ln/>
        </p:spPr>
        <p:txBody>
          <a:bodyPr wrap="square" lIns="0" tIns="0" rIns="0" bIns="0" rtlCol="0" anchor="t"/>
          <a:lstStyle/>
          <a:p>
            <a:pPr marL="0" indent="0">
              <a:buNone/>
            </a:pPr>
            <a:r>
              <a:rPr lang="en-US" sz="1400" i="1" dirty="0">
                <a:solidFill>
                  <a:srgbClr val="8FA9BA"/>
                </a:solidFill>
                <a:latin typeface="Calibri" pitchFamily="34" charset="0"/>
                <a:ea typeface="Calibri" pitchFamily="34" charset="-122"/>
                <a:cs typeface="Calibri" pitchFamily="34" charset="-120"/>
              </a:rPr>
              <a:t>The direction is unanimous across eight models from six developers, and unchanged across a model generation.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384048"/>
            <a:ext cx="10058400" cy="256032"/>
          </a:xfrm>
          <a:prstGeom prst="rect">
            <a:avLst/>
          </a:prstGeom>
          <a:noFill/>
          <a:ln/>
        </p:spPr>
        <p:txBody>
          <a:bodyPr wrap="square" lIns="0" tIns="0" rIns="0" bIns="0" rtlCol="0" anchor="t"/>
          <a:lstStyle/>
          <a:p>
            <a:pPr marL="0" indent="0">
              <a:buNone/>
            </a:pPr>
            <a:r>
              <a:rPr lang="en-US" sz="1100" b="1" kern="0" spc="200" dirty="0">
                <a:solidFill>
                  <a:srgbClr val="0891B2"/>
                </a:solidFill>
                <a:latin typeface="Calibri" pitchFamily="34" charset="0"/>
                <a:ea typeface="Calibri" pitchFamily="34" charset="-122"/>
                <a:cs typeface="Calibri" pitchFamily="34" charset="-120"/>
              </a:rPr>
              <a:t>FINDING 1A</a:t>
            </a:r>
            <a:endParaRPr lang="en-US" sz="1100" dirty="0"/>
          </a:p>
        </p:txBody>
      </p:sp>
      <p:sp>
        <p:nvSpPr>
          <p:cNvPr id="3" name="Text 1"/>
          <p:cNvSpPr txBox="1"/>
          <p:nvPr/>
        </p:nvSpPr>
        <p:spPr>
          <a:xfrm>
            <a:off x="685800" y="658368"/>
            <a:ext cx="10881360" cy="777240"/>
          </a:xfrm>
          <a:prstGeom prst="rect">
            <a:avLst/>
          </a:prstGeom>
          <a:noFill/>
          <a:ln/>
        </p:spPr>
        <p:txBody>
          <a:bodyPr wrap="square" lIns="0" tIns="0" rIns="0" bIns="0" rtlCol="0" anchor="t"/>
          <a:lstStyle/>
          <a:p>
            <a:pPr marL="0" indent="0">
              <a:buNone/>
            </a:pPr>
            <a:r>
              <a:rPr lang="en-US" sz="3000" b="1" dirty="0">
                <a:solidFill>
                  <a:srgbClr val="0D2640"/>
                </a:solidFill>
                <a:latin typeface="Cambria" pitchFamily="34" charset="0"/>
                <a:ea typeface="Cambria" pitchFamily="34" charset="-122"/>
                <a:cs typeface="Cambria" pitchFamily="34" charset="-120"/>
              </a:rPr>
              <a:t>They order the cases alike</a:t>
            </a:r>
            <a:endParaRPr lang="en-US" sz="3000" dirty="0"/>
          </a:p>
        </p:txBody>
      </p:sp>
      <p:pic>
        <p:nvPicPr>
          <p:cNvPr id="4" name="Image 0" descr="/home/claude/repo/figures/fig4_scatter.png"/>
          <p:cNvPicPr>
            <a:picLocks noChangeAspect="1"/>
          </p:cNvPicPr>
          <p:nvPr/>
        </p:nvPicPr>
        <p:blipFill>
          <a:blip r:embed="rId3"/>
          <a:stretch>
            <a:fillRect/>
          </a:stretch>
        </p:blipFill>
        <p:spPr>
          <a:xfrm>
            <a:off x="685800" y="1783080"/>
            <a:ext cx="5029200" cy="4333009"/>
          </a:xfrm>
          <a:prstGeom prst="rect">
            <a:avLst/>
          </a:prstGeom>
        </p:spPr>
      </p:pic>
      <p:sp>
        <p:nvSpPr>
          <p:cNvPr id="5" name="Text 2"/>
          <p:cNvSpPr txBox="1"/>
          <p:nvPr/>
        </p:nvSpPr>
        <p:spPr>
          <a:xfrm>
            <a:off x="6309360" y="2103120"/>
            <a:ext cx="5120640" cy="457200"/>
          </a:xfrm>
          <a:prstGeom prst="rect">
            <a:avLst/>
          </a:prstGeom>
          <a:noFill/>
          <a:ln/>
        </p:spPr>
        <p:txBody>
          <a:bodyPr wrap="square" lIns="0" tIns="0" rIns="0" bIns="0" rtlCol="0" anchor="t"/>
          <a:lstStyle/>
          <a:p>
            <a:pPr marL="0" indent="0">
              <a:buNone/>
            </a:pPr>
            <a:r>
              <a:rPr lang="en-US" sz="2600" b="1" dirty="0">
                <a:solidFill>
                  <a:srgbClr val="0D2640"/>
                </a:solidFill>
                <a:latin typeface="Cambria" pitchFamily="34" charset="0"/>
                <a:ea typeface="Cambria" pitchFamily="34" charset="-122"/>
                <a:cs typeface="Cambria" pitchFamily="34" charset="-120"/>
              </a:rPr>
              <a:t>Pearson r = 0.81</a:t>
            </a:r>
            <a:endParaRPr lang="en-US" sz="2600" dirty="0"/>
          </a:p>
        </p:txBody>
      </p:sp>
      <p:sp>
        <p:nvSpPr>
          <p:cNvPr id="6" name="Text 3"/>
          <p:cNvSpPr txBox="1"/>
          <p:nvPr/>
        </p:nvSpPr>
        <p:spPr>
          <a:xfrm>
            <a:off x="6309360" y="2606040"/>
            <a:ext cx="5120640" cy="548640"/>
          </a:xfrm>
          <a:prstGeom prst="rect">
            <a:avLst/>
          </a:prstGeom>
          <a:noFill/>
          <a:ln/>
        </p:spPr>
        <p:txBody>
          <a:bodyPr wrap="square" lIns="0" tIns="0" rIns="0" bIns="0" rtlCol="0" anchor="t"/>
          <a:lstStyle/>
          <a:p>
            <a:pPr marL="0" indent="0">
              <a:buNone/>
            </a:pPr>
            <a:r>
              <a:rPr lang="en-US" sz="1250" dirty="0">
                <a:solidFill>
                  <a:srgbClr val="5B7183"/>
                </a:solidFill>
                <a:latin typeface="Calibri" pitchFamily="34" charset="0"/>
                <a:ea typeface="Calibri" pitchFamily="34" charset="-122"/>
                <a:cs typeface="Calibri" pitchFamily="34" charset="-120"/>
              </a:rPr>
              <a:t>Spearman ρ = 0.80 · r = 0.78 restricted to the 43 vignettes with three or more ratings</a:t>
            </a:r>
            <a:endParaRPr lang="en-US" sz="1250" dirty="0"/>
          </a:p>
        </p:txBody>
      </p:sp>
      <p:sp>
        <p:nvSpPr>
          <p:cNvPr id="7" name="Text 4"/>
          <p:cNvSpPr txBox="1"/>
          <p:nvPr/>
        </p:nvSpPr>
        <p:spPr>
          <a:xfrm>
            <a:off x="6309360" y="3337560"/>
            <a:ext cx="5120640" cy="2011680"/>
          </a:xfrm>
          <a:prstGeom prst="rect">
            <a:avLst/>
          </a:prstGeom>
          <a:noFill/>
          <a:ln/>
        </p:spPr>
        <p:txBody>
          <a:bodyPr wrap="square" lIns="0" tIns="0" rIns="0" bIns="0" rtlCol="0" anchor="t"/>
          <a:lstStyle/>
          <a:p>
            <a:pPr marL="0" indent="0">
              <a:spcAft>
                <a:spcPts val="1000"/>
              </a:spcAft>
              <a:buNone/>
            </a:pPr>
            <a:r>
              <a:rPr lang="en-US" sz="1400" dirty="0">
                <a:solidFill>
                  <a:srgbClr val="1A2733"/>
                </a:solidFill>
                <a:latin typeface="Calibri" pitchFamily="34" charset="0"/>
                <a:ea typeface="Calibri" pitchFamily="34" charset="-122"/>
                <a:cs typeface="Calibri" pitchFamily="34" charset="-120"/>
              </a:rPr>
              <a:t>Roughly two-thirds of the variance in pooled model scores is shared with the human scores. Models and reviewers substantially agree on which cases depict more and less autonomous decision-making.</a:t>
            </a:r>
            <a:endParaRPr lang="en-US" sz="1400" dirty="0"/>
          </a:p>
          <a:p>
            <a:pPr marL="0" indent="0">
              <a:buNone/>
            </a:pPr>
            <a:r>
              <a:rPr lang="en-US" sz="1400" dirty="0">
                <a:solidFill>
                  <a:srgbClr val="1A2733"/>
                </a:solidFill>
                <a:latin typeface="Calibri" pitchFamily="34" charset="0"/>
                <a:ea typeface="Calibri" pitchFamily="34" charset="-122"/>
                <a:cs typeface="Calibri" pitchFamily="34" charset="-120"/>
              </a:rPr>
              <a:t>That is agreement on ordering. It says nothing about how much autonomy either source thinks any case depicts — which is where they part company.</a:t>
            </a:r>
            <a:endParaRPr lang="en-US" sz="1400" dirty="0"/>
          </a:p>
        </p:txBody>
      </p:sp>
      <p:sp>
        <p:nvSpPr>
          <p:cNvPr id="8" name="Text 5"/>
          <p:cNvSpPr txBox="1"/>
          <p:nvPr/>
        </p:nvSpPr>
        <p:spPr>
          <a:xfrm>
            <a:off x="6309360" y="5440680"/>
            <a:ext cx="5120640" cy="457200"/>
          </a:xfrm>
          <a:prstGeom prst="rect">
            <a:avLst/>
          </a:prstGeom>
          <a:noFill/>
          <a:ln/>
        </p:spPr>
        <p:txBody>
          <a:bodyPr wrap="square" lIns="0" tIns="0" rIns="0" bIns="0" rtlCol="0" anchor="t"/>
          <a:lstStyle/>
          <a:p>
            <a:pPr marL="0" indent="0">
              <a:buNone/>
            </a:pPr>
            <a:r>
              <a:rPr lang="en-US" sz="1000" i="1" dirty="0">
                <a:solidFill>
                  <a:srgbClr val="5B7183"/>
                </a:solidFill>
                <a:latin typeface="Calibri" pitchFamily="34" charset="0"/>
                <a:ea typeface="Calibri" pitchFamily="34" charset="-122"/>
                <a:cs typeface="Calibri" pitchFamily="34" charset="-120"/>
              </a:rPr>
              <a:t>Dashed line is identity. Points above it are cases where reviewers scored higher.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384048"/>
            <a:ext cx="10058400" cy="256032"/>
          </a:xfrm>
          <a:prstGeom prst="rect">
            <a:avLst/>
          </a:prstGeom>
          <a:noFill/>
          <a:ln/>
        </p:spPr>
        <p:txBody>
          <a:bodyPr wrap="square" lIns="0" tIns="0" rIns="0" bIns="0" rtlCol="0" anchor="t"/>
          <a:lstStyle/>
          <a:p>
            <a:pPr marL="0" indent="0">
              <a:buNone/>
            </a:pPr>
            <a:r>
              <a:rPr lang="en-US" sz="1100" b="1" kern="0" spc="200" dirty="0">
                <a:solidFill>
                  <a:srgbClr val="0891B2"/>
                </a:solidFill>
                <a:latin typeface="Calibri" pitchFamily="34" charset="0"/>
                <a:ea typeface="Calibri" pitchFamily="34" charset="-122"/>
                <a:cs typeface="Calibri" pitchFamily="34" charset="-120"/>
              </a:rPr>
              <a:t>FINDING 1B</a:t>
            </a:r>
            <a:endParaRPr lang="en-US" sz="1100" dirty="0"/>
          </a:p>
        </p:txBody>
      </p:sp>
      <p:sp>
        <p:nvSpPr>
          <p:cNvPr id="3" name="Text 1"/>
          <p:cNvSpPr txBox="1"/>
          <p:nvPr/>
        </p:nvSpPr>
        <p:spPr>
          <a:xfrm>
            <a:off x="685800" y="658368"/>
            <a:ext cx="10881360" cy="777240"/>
          </a:xfrm>
          <a:prstGeom prst="rect">
            <a:avLst/>
          </a:prstGeom>
          <a:noFill/>
          <a:ln/>
        </p:spPr>
        <p:txBody>
          <a:bodyPr wrap="square" lIns="0" tIns="0" rIns="0" bIns="0" rtlCol="0" anchor="t"/>
          <a:lstStyle/>
          <a:p>
            <a:pPr marL="0" indent="0">
              <a:buNone/>
            </a:pPr>
            <a:r>
              <a:rPr lang="en-US" sz="3000" b="1" dirty="0">
                <a:solidFill>
                  <a:srgbClr val="0D2640"/>
                </a:solidFill>
                <a:latin typeface="Cambria" pitchFamily="34" charset="0"/>
                <a:ea typeface="Cambria" pitchFamily="34" charset="-122"/>
                <a:cs typeface="Cambria" pitchFamily="34" charset="-120"/>
              </a:rPr>
              <a:t>And they sit about eleven points apart</a:t>
            </a:r>
            <a:endParaRPr lang="en-US" sz="3000" dirty="0"/>
          </a:p>
        </p:txBody>
      </p:sp>
      <p:pic>
        <p:nvPicPr>
          <p:cNvPr id="4" name="Image 0" descr="/home/claude/repo/figures/fig5_distributions.png"/>
          <p:cNvPicPr>
            <a:picLocks noChangeAspect="1"/>
          </p:cNvPicPr>
          <p:nvPr/>
        </p:nvPicPr>
        <p:blipFill>
          <a:blip r:embed="rId3"/>
          <a:stretch>
            <a:fillRect/>
          </a:stretch>
        </p:blipFill>
        <p:spPr>
          <a:xfrm>
            <a:off x="685800" y="1874520"/>
            <a:ext cx="5394960" cy="3585607"/>
          </a:xfrm>
          <a:prstGeom prst="rect">
            <a:avLst/>
          </a:prstGeom>
        </p:spPr>
      </p:pic>
      <p:sp>
        <p:nvSpPr>
          <p:cNvPr id="5" name="Text 2"/>
          <p:cNvSpPr txBox="1"/>
          <p:nvPr/>
        </p:nvSpPr>
        <p:spPr>
          <a:xfrm>
            <a:off x="6720840" y="2057400"/>
            <a:ext cx="2834640" cy="320040"/>
          </a:xfrm>
          <a:prstGeom prst="rect">
            <a:avLst/>
          </a:prstGeom>
          <a:noFill/>
          <a:ln/>
        </p:spPr>
        <p:txBody>
          <a:bodyPr wrap="square" lIns="0" tIns="0" rIns="0" bIns="0" rtlCol="0" anchor="t"/>
          <a:lstStyle/>
          <a:p>
            <a:pPr marL="0" indent="0">
              <a:buNone/>
            </a:pPr>
            <a:r>
              <a:rPr lang="en-US" sz="1400" dirty="0">
                <a:solidFill>
                  <a:srgbClr val="1A2733"/>
                </a:solidFill>
                <a:latin typeface="Calibri" pitchFamily="34" charset="0"/>
                <a:ea typeface="Calibri" pitchFamily="34" charset="-122"/>
                <a:cs typeface="Calibri" pitchFamily="34" charset="-120"/>
              </a:rPr>
              <a:t>Human mean</a:t>
            </a:r>
            <a:endParaRPr lang="en-US" sz="1400" dirty="0"/>
          </a:p>
        </p:txBody>
      </p:sp>
      <p:sp>
        <p:nvSpPr>
          <p:cNvPr id="6" name="Text 3"/>
          <p:cNvSpPr txBox="1"/>
          <p:nvPr/>
        </p:nvSpPr>
        <p:spPr>
          <a:xfrm>
            <a:off x="9601200" y="2057400"/>
            <a:ext cx="1828800" cy="320040"/>
          </a:xfrm>
          <a:prstGeom prst="rect">
            <a:avLst/>
          </a:prstGeom>
          <a:noFill/>
          <a:ln/>
        </p:spPr>
        <p:txBody>
          <a:bodyPr wrap="square" lIns="0" tIns="0" rIns="0" bIns="0" rtlCol="0" anchor="t"/>
          <a:lstStyle/>
          <a:p>
            <a:pPr marL="0" indent="0" algn="r">
              <a:buNone/>
            </a:pPr>
            <a:r>
              <a:rPr lang="en-US" sz="1400" dirty="0">
                <a:solidFill>
                  <a:srgbClr val="1A2733"/>
                </a:solidFill>
                <a:latin typeface="Calibri" pitchFamily="34" charset="0"/>
                <a:ea typeface="Calibri" pitchFamily="34" charset="-122"/>
                <a:cs typeface="Calibri" pitchFamily="34" charset="-120"/>
              </a:rPr>
              <a:t>50.2</a:t>
            </a:r>
            <a:endParaRPr lang="en-US" sz="1400" dirty="0"/>
          </a:p>
        </p:txBody>
      </p:sp>
      <p:sp>
        <p:nvSpPr>
          <p:cNvPr id="7" name="Shape 4"/>
          <p:cNvSpPr/>
          <p:nvPr/>
        </p:nvSpPr>
        <p:spPr>
          <a:xfrm>
            <a:off x="6720840" y="2395728"/>
            <a:ext cx="4709160" cy="0"/>
          </a:xfrm>
          <a:prstGeom prst="line">
            <a:avLst/>
          </a:prstGeom>
          <a:noFill/>
          <a:ln w="12700">
            <a:solidFill>
              <a:srgbClr val="E2EAEF"/>
            </a:solidFill>
            <a:prstDash val="solid"/>
          </a:ln>
        </p:spPr>
        <p:txBody>
          <a:bodyPr/>
          <a:lstStyle/>
          <a:p>
            <a:endParaRPr lang="en-US"/>
          </a:p>
        </p:txBody>
      </p:sp>
      <p:sp>
        <p:nvSpPr>
          <p:cNvPr id="8" name="Text 5"/>
          <p:cNvSpPr txBox="1"/>
          <p:nvPr/>
        </p:nvSpPr>
        <p:spPr>
          <a:xfrm>
            <a:off x="6720840" y="2478024"/>
            <a:ext cx="2834640" cy="320040"/>
          </a:xfrm>
          <a:prstGeom prst="rect">
            <a:avLst/>
          </a:prstGeom>
          <a:noFill/>
          <a:ln/>
        </p:spPr>
        <p:txBody>
          <a:bodyPr wrap="square" lIns="0" tIns="0" rIns="0" bIns="0" rtlCol="0" anchor="t"/>
          <a:lstStyle/>
          <a:p>
            <a:pPr marL="0" indent="0">
              <a:buNone/>
            </a:pPr>
            <a:r>
              <a:rPr lang="en-US" sz="1400" dirty="0">
                <a:solidFill>
                  <a:srgbClr val="1A2733"/>
                </a:solidFill>
                <a:latin typeface="Calibri" pitchFamily="34" charset="0"/>
                <a:ea typeface="Calibri" pitchFamily="34" charset="-122"/>
                <a:cs typeface="Calibri" pitchFamily="34" charset="-120"/>
              </a:rPr>
              <a:t>Model mean</a:t>
            </a:r>
            <a:endParaRPr lang="en-US" sz="1400" dirty="0"/>
          </a:p>
        </p:txBody>
      </p:sp>
      <p:sp>
        <p:nvSpPr>
          <p:cNvPr id="9" name="Text 6"/>
          <p:cNvSpPr txBox="1"/>
          <p:nvPr/>
        </p:nvSpPr>
        <p:spPr>
          <a:xfrm>
            <a:off x="9601200" y="2478024"/>
            <a:ext cx="1828800" cy="320040"/>
          </a:xfrm>
          <a:prstGeom prst="rect">
            <a:avLst/>
          </a:prstGeom>
          <a:noFill/>
          <a:ln/>
        </p:spPr>
        <p:txBody>
          <a:bodyPr wrap="square" lIns="0" tIns="0" rIns="0" bIns="0" rtlCol="0" anchor="t"/>
          <a:lstStyle/>
          <a:p>
            <a:pPr marL="0" indent="0" algn="r">
              <a:buNone/>
            </a:pPr>
            <a:r>
              <a:rPr lang="en-US" sz="1400" dirty="0">
                <a:solidFill>
                  <a:srgbClr val="1A2733"/>
                </a:solidFill>
                <a:latin typeface="Calibri" pitchFamily="34" charset="0"/>
                <a:ea typeface="Calibri" pitchFamily="34" charset="-122"/>
                <a:cs typeface="Calibri" pitchFamily="34" charset="-120"/>
              </a:rPr>
              <a:t>39.4</a:t>
            </a:r>
            <a:endParaRPr lang="en-US" sz="1400" dirty="0"/>
          </a:p>
        </p:txBody>
      </p:sp>
      <p:sp>
        <p:nvSpPr>
          <p:cNvPr id="10" name="Shape 7"/>
          <p:cNvSpPr/>
          <p:nvPr/>
        </p:nvSpPr>
        <p:spPr>
          <a:xfrm>
            <a:off x="6720840" y="2816352"/>
            <a:ext cx="4709160" cy="0"/>
          </a:xfrm>
          <a:prstGeom prst="line">
            <a:avLst/>
          </a:prstGeom>
          <a:noFill/>
          <a:ln w="12700">
            <a:solidFill>
              <a:srgbClr val="E2EAEF"/>
            </a:solidFill>
            <a:prstDash val="solid"/>
          </a:ln>
        </p:spPr>
        <p:txBody>
          <a:bodyPr/>
          <a:lstStyle/>
          <a:p>
            <a:endParaRPr lang="en-US"/>
          </a:p>
        </p:txBody>
      </p:sp>
      <p:sp>
        <p:nvSpPr>
          <p:cNvPr id="11" name="Text 8"/>
          <p:cNvSpPr txBox="1"/>
          <p:nvPr/>
        </p:nvSpPr>
        <p:spPr>
          <a:xfrm>
            <a:off x="6720840" y="2898648"/>
            <a:ext cx="2834640" cy="320040"/>
          </a:xfrm>
          <a:prstGeom prst="rect">
            <a:avLst/>
          </a:prstGeom>
          <a:noFill/>
          <a:ln/>
        </p:spPr>
        <p:txBody>
          <a:bodyPr wrap="square" lIns="0" tIns="0" rIns="0" bIns="0" rtlCol="0" anchor="t"/>
          <a:lstStyle/>
          <a:p>
            <a:pPr marL="0" indent="0">
              <a:buNone/>
            </a:pPr>
            <a:r>
              <a:rPr lang="en-US" sz="1400" b="1" dirty="0">
                <a:solidFill>
                  <a:srgbClr val="0D2640"/>
                </a:solidFill>
                <a:latin typeface="Calibri" pitchFamily="34" charset="0"/>
                <a:ea typeface="Calibri" pitchFamily="34" charset="-122"/>
                <a:cs typeface="Calibri" pitchFamily="34" charset="-120"/>
              </a:rPr>
              <a:t>Paired difference</a:t>
            </a:r>
            <a:endParaRPr lang="en-US" sz="1400" dirty="0"/>
          </a:p>
        </p:txBody>
      </p:sp>
      <p:sp>
        <p:nvSpPr>
          <p:cNvPr id="12" name="Text 9"/>
          <p:cNvSpPr txBox="1"/>
          <p:nvPr/>
        </p:nvSpPr>
        <p:spPr>
          <a:xfrm>
            <a:off x="9601200" y="2898648"/>
            <a:ext cx="1828800" cy="320040"/>
          </a:xfrm>
          <a:prstGeom prst="rect">
            <a:avLst/>
          </a:prstGeom>
          <a:noFill/>
          <a:ln/>
        </p:spPr>
        <p:txBody>
          <a:bodyPr wrap="square" lIns="0" tIns="0" rIns="0" bIns="0" rtlCol="0" anchor="t"/>
          <a:lstStyle/>
          <a:p>
            <a:pPr marL="0" indent="0" algn="r">
              <a:buNone/>
            </a:pPr>
            <a:r>
              <a:rPr lang="en-US" sz="1400" b="1" dirty="0">
                <a:solidFill>
                  <a:srgbClr val="0891B2"/>
                </a:solidFill>
                <a:latin typeface="Calibri" pitchFamily="34" charset="0"/>
                <a:ea typeface="Calibri" pitchFamily="34" charset="-122"/>
                <a:cs typeface="Calibri" pitchFamily="34" charset="-120"/>
              </a:rPr>
              <a:t>+10.8</a:t>
            </a:r>
            <a:endParaRPr lang="en-US" sz="1400" dirty="0"/>
          </a:p>
        </p:txBody>
      </p:sp>
      <p:sp>
        <p:nvSpPr>
          <p:cNvPr id="13" name="Shape 10"/>
          <p:cNvSpPr/>
          <p:nvPr/>
        </p:nvSpPr>
        <p:spPr>
          <a:xfrm>
            <a:off x="6720840" y="3236976"/>
            <a:ext cx="4709160" cy="0"/>
          </a:xfrm>
          <a:prstGeom prst="line">
            <a:avLst/>
          </a:prstGeom>
          <a:noFill/>
          <a:ln w="12700">
            <a:solidFill>
              <a:srgbClr val="E2EAEF"/>
            </a:solidFill>
            <a:prstDash val="solid"/>
          </a:ln>
        </p:spPr>
        <p:txBody>
          <a:bodyPr/>
          <a:lstStyle/>
          <a:p>
            <a:endParaRPr lang="en-US"/>
          </a:p>
        </p:txBody>
      </p:sp>
      <p:sp>
        <p:nvSpPr>
          <p:cNvPr id="14" name="Text 11"/>
          <p:cNvSpPr txBox="1"/>
          <p:nvPr/>
        </p:nvSpPr>
        <p:spPr>
          <a:xfrm>
            <a:off x="6720840" y="3319272"/>
            <a:ext cx="2834640" cy="320040"/>
          </a:xfrm>
          <a:prstGeom prst="rect">
            <a:avLst/>
          </a:prstGeom>
          <a:noFill/>
          <a:ln/>
        </p:spPr>
        <p:txBody>
          <a:bodyPr wrap="square" lIns="0" tIns="0" rIns="0" bIns="0" rtlCol="0" anchor="t"/>
          <a:lstStyle/>
          <a:p>
            <a:pPr marL="0" indent="0">
              <a:buNone/>
            </a:pPr>
            <a:r>
              <a:rPr lang="en-US" sz="1400" dirty="0">
                <a:solidFill>
                  <a:srgbClr val="1A2733"/>
                </a:solidFill>
                <a:latin typeface="Calibri" pitchFamily="34" charset="0"/>
                <a:ea typeface="Calibri" pitchFamily="34" charset="-122"/>
                <a:cs typeface="Calibri" pitchFamily="34" charset="-120"/>
              </a:rPr>
              <a:t>95% CI</a:t>
            </a:r>
            <a:endParaRPr lang="en-US" sz="1400" dirty="0"/>
          </a:p>
        </p:txBody>
      </p:sp>
      <p:sp>
        <p:nvSpPr>
          <p:cNvPr id="15" name="Text 12"/>
          <p:cNvSpPr txBox="1"/>
          <p:nvPr/>
        </p:nvSpPr>
        <p:spPr>
          <a:xfrm>
            <a:off x="9601200" y="3319272"/>
            <a:ext cx="1828800" cy="320040"/>
          </a:xfrm>
          <a:prstGeom prst="rect">
            <a:avLst/>
          </a:prstGeom>
          <a:noFill/>
          <a:ln/>
        </p:spPr>
        <p:txBody>
          <a:bodyPr wrap="square" lIns="0" tIns="0" rIns="0" bIns="0" rtlCol="0" anchor="t"/>
          <a:lstStyle/>
          <a:p>
            <a:pPr marL="0" indent="0" algn="r">
              <a:buNone/>
            </a:pPr>
            <a:r>
              <a:rPr lang="en-US" sz="1400" dirty="0">
                <a:solidFill>
                  <a:srgbClr val="1A2733"/>
                </a:solidFill>
                <a:latin typeface="Calibri" pitchFamily="34" charset="0"/>
                <a:ea typeface="Calibri" pitchFamily="34" charset="-122"/>
                <a:cs typeface="Calibri" pitchFamily="34" charset="-120"/>
              </a:rPr>
              <a:t>6.3 to 15.4</a:t>
            </a:r>
            <a:endParaRPr lang="en-US" sz="1400" dirty="0"/>
          </a:p>
        </p:txBody>
      </p:sp>
      <p:sp>
        <p:nvSpPr>
          <p:cNvPr id="16" name="Shape 13"/>
          <p:cNvSpPr/>
          <p:nvPr/>
        </p:nvSpPr>
        <p:spPr>
          <a:xfrm>
            <a:off x="6720840" y="3657600"/>
            <a:ext cx="4709160" cy="0"/>
          </a:xfrm>
          <a:prstGeom prst="line">
            <a:avLst/>
          </a:prstGeom>
          <a:noFill/>
          <a:ln w="12700">
            <a:solidFill>
              <a:srgbClr val="E2EAEF"/>
            </a:solidFill>
            <a:prstDash val="solid"/>
          </a:ln>
        </p:spPr>
        <p:txBody>
          <a:bodyPr/>
          <a:lstStyle/>
          <a:p>
            <a:endParaRPr lang="en-US"/>
          </a:p>
        </p:txBody>
      </p:sp>
      <p:sp>
        <p:nvSpPr>
          <p:cNvPr id="17" name="Text 14"/>
          <p:cNvSpPr txBox="1"/>
          <p:nvPr/>
        </p:nvSpPr>
        <p:spPr>
          <a:xfrm>
            <a:off x="6720840" y="3739896"/>
            <a:ext cx="2834640" cy="320040"/>
          </a:xfrm>
          <a:prstGeom prst="rect">
            <a:avLst/>
          </a:prstGeom>
          <a:noFill/>
          <a:ln/>
        </p:spPr>
        <p:txBody>
          <a:bodyPr wrap="square" lIns="0" tIns="0" rIns="0" bIns="0" rtlCol="0" anchor="t"/>
          <a:lstStyle/>
          <a:p>
            <a:pPr marL="0" indent="0">
              <a:buNone/>
            </a:pPr>
            <a:r>
              <a:rPr lang="en-US" sz="1400" dirty="0">
                <a:solidFill>
                  <a:srgbClr val="1A2733"/>
                </a:solidFill>
                <a:latin typeface="Calibri" pitchFamily="34" charset="0"/>
                <a:ea typeface="Calibri" pitchFamily="34" charset="-122"/>
                <a:cs typeface="Calibri" pitchFamily="34" charset="-120"/>
              </a:rPr>
              <a:t>Effect size dz</a:t>
            </a:r>
            <a:endParaRPr lang="en-US" sz="1400" dirty="0"/>
          </a:p>
        </p:txBody>
      </p:sp>
      <p:sp>
        <p:nvSpPr>
          <p:cNvPr id="18" name="Text 15"/>
          <p:cNvSpPr txBox="1"/>
          <p:nvPr/>
        </p:nvSpPr>
        <p:spPr>
          <a:xfrm>
            <a:off x="9601200" y="3739896"/>
            <a:ext cx="1828800" cy="320040"/>
          </a:xfrm>
          <a:prstGeom prst="rect">
            <a:avLst/>
          </a:prstGeom>
          <a:noFill/>
          <a:ln/>
        </p:spPr>
        <p:txBody>
          <a:bodyPr wrap="square" lIns="0" tIns="0" rIns="0" bIns="0" rtlCol="0" anchor="t"/>
          <a:lstStyle/>
          <a:p>
            <a:pPr marL="0" indent="0" algn="r">
              <a:buNone/>
            </a:pPr>
            <a:r>
              <a:rPr lang="en-US" sz="1400" dirty="0">
                <a:solidFill>
                  <a:srgbClr val="1A2733"/>
                </a:solidFill>
                <a:latin typeface="Calibri" pitchFamily="34" charset="0"/>
                <a:ea typeface="Calibri" pitchFamily="34" charset="-122"/>
                <a:cs typeface="Calibri" pitchFamily="34" charset="-120"/>
              </a:rPr>
              <a:t>0.68</a:t>
            </a:r>
            <a:endParaRPr lang="en-US" sz="1400" dirty="0"/>
          </a:p>
        </p:txBody>
      </p:sp>
      <p:sp>
        <p:nvSpPr>
          <p:cNvPr id="19" name="Shape 16"/>
          <p:cNvSpPr/>
          <p:nvPr/>
        </p:nvSpPr>
        <p:spPr>
          <a:xfrm>
            <a:off x="6720840" y="4078224"/>
            <a:ext cx="4709160" cy="0"/>
          </a:xfrm>
          <a:prstGeom prst="line">
            <a:avLst/>
          </a:prstGeom>
          <a:noFill/>
          <a:ln w="12700">
            <a:solidFill>
              <a:srgbClr val="E2EAEF"/>
            </a:solidFill>
            <a:prstDash val="solid"/>
          </a:ln>
        </p:spPr>
        <p:txBody>
          <a:bodyPr/>
          <a:lstStyle/>
          <a:p>
            <a:endParaRPr lang="en-US"/>
          </a:p>
        </p:txBody>
      </p:sp>
      <p:sp>
        <p:nvSpPr>
          <p:cNvPr id="20" name="Text 17"/>
          <p:cNvSpPr txBox="1"/>
          <p:nvPr/>
        </p:nvSpPr>
        <p:spPr>
          <a:xfrm>
            <a:off x="6720840" y="4160520"/>
            <a:ext cx="2834640" cy="320040"/>
          </a:xfrm>
          <a:prstGeom prst="rect">
            <a:avLst/>
          </a:prstGeom>
          <a:noFill/>
          <a:ln/>
        </p:spPr>
        <p:txBody>
          <a:bodyPr wrap="square" lIns="0" tIns="0" rIns="0" bIns="0" rtlCol="0" anchor="t"/>
          <a:lstStyle/>
          <a:p>
            <a:pPr marL="0" indent="0">
              <a:buNone/>
            </a:pPr>
            <a:r>
              <a:rPr lang="en-US" sz="1400" dirty="0">
                <a:solidFill>
                  <a:srgbClr val="1A2733"/>
                </a:solidFill>
                <a:latin typeface="Calibri" pitchFamily="34" charset="0"/>
                <a:ea typeface="Calibri" pitchFamily="34" charset="-122"/>
                <a:cs typeface="Calibri" pitchFamily="34" charset="-120"/>
              </a:rPr>
              <a:t>Human higher on</a:t>
            </a:r>
            <a:endParaRPr lang="en-US" sz="1400" dirty="0"/>
          </a:p>
        </p:txBody>
      </p:sp>
      <p:sp>
        <p:nvSpPr>
          <p:cNvPr id="21" name="Text 18"/>
          <p:cNvSpPr txBox="1"/>
          <p:nvPr/>
        </p:nvSpPr>
        <p:spPr>
          <a:xfrm>
            <a:off x="9601200" y="4160520"/>
            <a:ext cx="1828800" cy="320040"/>
          </a:xfrm>
          <a:prstGeom prst="rect">
            <a:avLst/>
          </a:prstGeom>
          <a:noFill/>
          <a:ln/>
        </p:spPr>
        <p:txBody>
          <a:bodyPr wrap="square" lIns="0" tIns="0" rIns="0" bIns="0" rtlCol="0" anchor="t"/>
          <a:lstStyle/>
          <a:p>
            <a:pPr marL="0" indent="0" algn="r">
              <a:buNone/>
            </a:pPr>
            <a:r>
              <a:rPr lang="en-US" sz="1400" dirty="0">
                <a:solidFill>
                  <a:srgbClr val="1A2733"/>
                </a:solidFill>
                <a:latin typeface="Calibri" pitchFamily="34" charset="0"/>
                <a:ea typeface="Calibri" pitchFamily="34" charset="-122"/>
                <a:cs typeface="Calibri" pitchFamily="34" charset="-120"/>
              </a:rPr>
              <a:t>37 of 49</a:t>
            </a:r>
            <a:endParaRPr lang="en-US" sz="1400" dirty="0"/>
          </a:p>
        </p:txBody>
      </p:sp>
      <p:sp>
        <p:nvSpPr>
          <p:cNvPr id="22" name="Text 19"/>
          <p:cNvSpPr txBox="1"/>
          <p:nvPr/>
        </p:nvSpPr>
        <p:spPr>
          <a:xfrm>
            <a:off x="6720840" y="4846320"/>
            <a:ext cx="4754880" cy="1005840"/>
          </a:xfrm>
          <a:prstGeom prst="rect">
            <a:avLst/>
          </a:prstGeom>
          <a:noFill/>
          <a:ln/>
        </p:spPr>
        <p:txBody>
          <a:bodyPr wrap="square" lIns="0" tIns="0" rIns="0" bIns="0" rtlCol="0" anchor="t"/>
          <a:lstStyle/>
          <a:p>
            <a:pPr marL="0" indent="0">
              <a:buNone/>
            </a:pPr>
            <a:r>
              <a:rPr lang="en-US" sz="1300" dirty="0">
                <a:solidFill>
                  <a:srgbClr val="5B7183"/>
                </a:solidFill>
                <a:latin typeface="Calibri" pitchFamily="34" charset="0"/>
                <a:ea typeface="Calibri" pitchFamily="34" charset="-122"/>
                <a:cs typeface="Calibri" pitchFamily="34" charset="-120"/>
              </a:rPr>
              <a:t>Not interchangeable on absolute scores: Bland–Altman limits of agreement run from −20 to +42, and the case-to-case variation in the gap (SD ≈ 15) is larger than the gap itself.</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9"/>
        </a:solidFill>
        <a:effectLst/>
      </p:bgPr>
    </p:bg>
    <p:spTree>
      <p:nvGrpSpPr>
        <p:cNvPr id="1" name=""/>
        <p:cNvGrpSpPr/>
        <p:nvPr/>
      </p:nvGrpSpPr>
      <p:grpSpPr>
        <a:xfrm>
          <a:off x="0" y="0"/>
          <a:ext cx="0" cy="0"/>
          <a:chOff x="0" y="0"/>
          <a:chExt cx="0" cy="0"/>
        </a:xfrm>
      </p:grpSpPr>
      <p:sp>
        <p:nvSpPr>
          <p:cNvPr id="2" name="Text 0"/>
          <p:cNvSpPr txBox="1"/>
          <p:nvPr/>
        </p:nvSpPr>
        <p:spPr>
          <a:xfrm>
            <a:off x="685800" y="384048"/>
            <a:ext cx="10058400" cy="256032"/>
          </a:xfrm>
          <a:prstGeom prst="rect">
            <a:avLst/>
          </a:prstGeom>
          <a:noFill/>
          <a:ln/>
        </p:spPr>
        <p:txBody>
          <a:bodyPr wrap="square" lIns="0" tIns="0" rIns="0" bIns="0" rtlCol="0" anchor="t"/>
          <a:lstStyle/>
          <a:p>
            <a:pPr marL="0" indent="0">
              <a:buNone/>
            </a:pPr>
            <a:r>
              <a:rPr lang="en-US" sz="1100" b="1" kern="0" spc="200" dirty="0">
                <a:solidFill>
                  <a:srgbClr val="0891B2"/>
                </a:solidFill>
                <a:latin typeface="Calibri" pitchFamily="34" charset="0"/>
                <a:ea typeface="Calibri" pitchFamily="34" charset="-122"/>
                <a:cs typeface="Calibri" pitchFamily="34" charset="-120"/>
              </a:rPr>
              <a:t>FINDING 1C</a:t>
            </a:r>
            <a:endParaRPr lang="en-US" sz="1100" dirty="0"/>
          </a:p>
        </p:txBody>
      </p:sp>
      <p:sp>
        <p:nvSpPr>
          <p:cNvPr id="3" name="Text 1"/>
          <p:cNvSpPr txBox="1"/>
          <p:nvPr/>
        </p:nvSpPr>
        <p:spPr>
          <a:xfrm>
            <a:off x="685800" y="658368"/>
            <a:ext cx="10881360" cy="777240"/>
          </a:xfrm>
          <a:prstGeom prst="rect">
            <a:avLst/>
          </a:prstGeom>
          <a:noFill/>
          <a:ln/>
        </p:spPr>
        <p:txBody>
          <a:bodyPr wrap="square" lIns="0" tIns="0" rIns="0" bIns="0" rtlCol="0" anchor="t"/>
          <a:lstStyle/>
          <a:p>
            <a:pPr marL="0" indent="0">
              <a:buNone/>
            </a:pPr>
            <a:r>
              <a:rPr lang="en-US" sz="3000" b="1" dirty="0">
                <a:solidFill>
                  <a:srgbClr val="0D2640"/>
                </a:solidFill>
                <a:latin typeface="Cambria" pitchFamily="34" charset="0"/>
                <a:ea typeface="Cambria" pitchFamily="34" charset="-122"/>
                <a:cs typeface="Cambria" pitchFamily="34" charset="-120"/>
              </a:rPr>
              <a:t>The discount is applied to the whole construct</a:t>
            </a:r>
            <a:endParaRPr lang="en-US" sz="3000" dirty="0"/>
          </a:p>
        </p:txBody>
      </p:sp>
      <p:pic>
        <p:nvPicPr>
          <p:cNvPr id="4" name="Image 0" descr="/home/claude/repo/figures/fig7_domains.png"/>
          <p:cNvPicPr>
            <a:picLocks noChangeAspect="1"/>
          </p:cNvPicPr>
          <p:nvPr/>
        </p:nvPicPr>
        <p:blipFill>
          <a:blip r:embed="rId3"/>
          <a:stretch>
            <a:fillRect/>
          </a:stretch>
        </p:blipFill>
        <p:spPr>
          <a:xfrm>
            <a:off x="685800" y="1965960"/>
            <a:ext cx="5394960" cy="2979375"/>
          </a:xfrm>
          <a:prstGeom prst="rect">
            <a:avLst/>
          </a:prstGeom>
        </p:spPr>
      </p:pic>
      <p:sp>
        <p:nvSpPr>
          <p:cNvPr id="5" name="Text 2"/>
          <p:cNvSpPr txBox="1"/>
          <p:nvPr/>
        </p:nvSpPr>
        <p:spPr>
          <a:xfrm>
            <a:off x="6675120" y="2148840"/>
            <a:ext cx="4846320" cy="411480"/>
          </a:xfrm>
          <a:prstGeom prst="rect">
            <a:avLst/>
          </a:prstGeom>
          <a:noFill/>
          <a:ln/>
        </p:spPr>
        <p:txBody>
          <a:bodyPr wrap="square" lIns="0" tIns="0" rIns="0" bIns="0" rtlCol="0" anchor="t"/>
          <a:lstStyle/>
          <a:p>
            <a:pPr marL="0" indent="0">
              <a:buNone/>
            </a:pPr>
            <a:r>
              <a:rPr lang="en-US" sz="1900" b="1" dirty="0">
                <a:solidFill>
                  <a:srgbClr val="0D2640"/>
                </a:solidFill>
                <a:latin typeface="Cambria" pitchFamily="34" charset="0"/>
                <a:ea typeface="Cambria" pitchFamily="34" charset="-122"/>
                <a:cs typeface="Cambria" pitchFamily="34" charset="-120"/>
              </a:rPr>
              <a:t>Gap × domain: χ²(3) = 4.5, P = 0.21</a:t>
            </a:r>
            <a:endParaRPr lang="en-US" sz="1900" dirty="0"/>
          </a:p>
        </p:txBody>
      </p:sp>
      <p:sp>
        <p:nvSpPr>
          <p:cNvPr id="6" name="Text 3"/>
          <p:cNvSpPr txBox="1"/>
          <p:nvPr/>
        </p:nvSpPr>
        <p:spPr>
          <a:xfrm>
            <a:off x="6675120" y="2697480"/>
            <a:ext cx="4846320" cy="3017520"/>
          </a:xfrm>
          <a:prstGeom prst="rect">
            <a:avLst/>
          </a:prstGeom>
          <a:noFill/>
          <a:ln/>
        </p:spPr>
        <p:txBody>
          <a:bodyPr wrap="square" lIns="0" tIns="0" rIns="0" bIns="0" rtlCol="0" anchor="t"/>
          <a:lstStyle/>
          <a:p>
            <a:pPr marL="0" indent="0">
              <a:spcAft>
                <a:spcPts val="1000"/>
              </a:spcAft>
              <a:buNone/>
            </a:pPr>
            <a:r>
              <a:rPr lang="en-US" sz="1350" dirty="0">
                <a:solidFill>
                  <a:srgbClr val="1A2733"/>
                </a:solidFill>
                <a:latin typeface="Calibri" pitchFamily="34" charset="0"/>
                <a:ea typeface="Calibri" pitchFamily="34" charset="-122"/>
                <a:cs typeface="Calibri" pitchFamily="34" charset="-120"/>
              </a:rPr>
              <a:t>The interaction is null, so the ordering of the four domain gaps is not interpretable. What the data support is a level shift across the construct, not a stricter threshold on any one ability.</a:t>
            </a:r>
            <a:endParaRPr lang="en-US" sz="1350" dirty="0"/>
          </a:p>
          <a:p>
            <a:pPr marL="0" indent="0">
              <a:spcAft>
                <a:spcPts val="1000"/>
              </a:spcAft>
              <a:buNone/>
            </a:pPr>
            <a:r>
              <a:rPr lang="en-US" sz="1350" dirty="0">
                <a:solidFill>
                  <a:srgbClr val="1A2733"/>
                </a:solidFill>
                <a:latin typeface="Calibri" pitchFamily="34" charset="0"/>
                <a:ea typeface="Calibri" pitchFamily="34" charset="-122"/>
                <a:cs typeface="Calibri" pitchFamily="34" charset="-120"/>
              </a:rPr>
              <a:t>This is the stronger result. A gap concentrated in Factual Understanding would look like a different bar for adequate comprehension; one in Intentional Action, a different bar for evidence of planning. A uniform shift is neither.</a:t>
            </a:r>
            <a:endParaRPr lang="en-US" sz="1350" dirty="0"/>
          </a:p>
          <a:p>
            <a:pPr marL="0" indent="0">
              <a:buNone/>
            </a:pPr>
            <a:r>
              <a:rPr lang="en-US" sz="1350" dirty="0">
                <a:solidFill>
                  <a:srgbClr val="1A2733"/>
                </a:solidFill>
                <a:latin typeface="Calibri" pitchFamily="34" charset="0"/>
                <a:ea typeface="Calibri" pitchFamily="34" charset="-122"/>
                <a:cs typeface="Calibri" pitchFamily="34" charset="-120"/>
              </a:rPr>
              <a:t>Both sources also share the shape of the profile — Values Awareness highest, Factual Understanding lowest. What separates them is level, not structure.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384048"/>
            <a:ext cx="10058400" cy="256032"/>
          </a:xfrm>
          <a:prstGeom prst="rect">
            <a:avLst/>
          </a:prstGeom>
          <a:noFill/>
          <a:ln/>
        </p:spPr>
        <p:txBody>
          <a:bodyPr wrap="square" lIns="0" tIns="0" rIns="0" bIns="0" rtlCol="0" anchor="t"/>
          <a:lstStyle/>
          <a:p>
            <a:pPr marL="0" indent="0">
              <a:buNone/>
            </a:pPr>
            <a:r>
              <a:rPr lang="en-US" sz="1100" b="1" kern="0" spc="200" dirty="0">
                <a:solidFill>
                  <a:srgbClr val="0891B2"/>
                </a:solidFill>
                <a:latin typeface="Calibri" pitchFamily="34" charset="0"/>
                <a:ea typeface="Calibri" pitchFamily="34" charset="-122"/>
                <a:cs typeface="Calibri" pitchFamily="34" charset="-120"/>
              </a:rPr>
              <a:t>FINDING 2</a:t>
            </a:r>
            <a:endParaRPr lang="en-US" sz="1100" dirty="0"/>
          </a:p>
        </p:txBody>
      </p:sp>
      <p:sp>
        <p:nvSpPr>
          <p:cNvPr id="3" name="Text 1"/>
          <p:cNvSpPr txBox="1"/>
          <p:nvPr/>
        </p:nvSpPr>
        <p:spPr>
          <a:xfrm>
            <a:off x="685800" y="658368"/>
            <a:ext cx="10881360" cy="777240"/>
          </a:xfrm>
          <a:prstGeom prst="rect">
            <a:avLst/>
          </a:prstGeom>
          <a:noFill/>
          <a:ln/>
        </p:spPr>
        <p:txBody>
          <a:bodyPr wrap="square" lIns="0" tIns="0" rIns="0" bIns="0" rtlCol="0" anchor="t"/>
          <a:lstStyle/>
          <a:p>
            <a:pPr marL="0" indent="0">
              <a:buNone/>
            </a:pPr>
            <a:r>
              <a:rPr lang="en-US" sz="3000" b="1" dirty="0">
                <a:solidFill>
                  <a:srgbClr val="0D2640"/>
                </a:solidFill>
                <a:latin typeface="Cambria" pitchFamily="34" charset="0"/>
                <a:ea typeface="Cambria" pitchFamily="34" charset="-122"/>
                <a:cs typeface="Cambria" pitchFamily="34" charset="-120"/>
              </a:rPr>
              <a:t>Reviewers said “not enough information.” Models never did.</a:t>
            </a:r>
            <a:endParaRPr lang="en-US" sz="3000" dirty="0"/>
          </a:p>
        </p:txBody>
      </p:sp>
      <p:pic>
        <p:nvPicPr>
          <p:cNvPr id="4" name="Image 0" descr="/home/claude/repo/figures/fig9_abstention.png"/>
          <p:cNvPicPr>
            <a:picLocks noChangeAspect="1"/>
          </p:cNvPicPr>
          <p:nvPr/>
        </p:nvPicPr>
        <p:blipFill>
          <a:blip r:embed="rId3"/>
          <a:stretch>
            <a:fillRect/>
          </a:stretch>
        </p:blipFill>
        <p:spPr>
          <a:xfrm>
            <a:off x="685800" y="1828800"/>
            <a:ext cx="6492240" cy="3828451"/>
          </a:xfrm>
          <a:prstGeom prst="rect">
            <a:avLst/>
          </a:prstGeom>
        </p:spPr>
      </p:pic>
      <p:sp>
        <p:nvSpPr>
          <p:cNvPr id="5" name="Shape 2"/>
          <p:cNvSpPr/>
          <p:nvPr/>
        </p:nvSpPr>
        <p:spPr>
          <a:xfrm>
            <a:off x="7452360" y="1965960"/>
            <a:ext cx="1920240" cy="1783080"/>
          </a:xfrm>
          <a:prstGeom prst="roundRect">
            <a:avLst>
              <a:gd name="adj" fmla="val 4103"/>
            </a:avLst>
          </a:prstGeom>
          <a:solidFill>
            <a:srgbClr val="FFFFFF"/>
          </a:solidFill>
          <a:ln w="12700">
            <a:solidFill>
              <a:srgbClr val="DCE5EB"/>
            </a:solidFill>
            <a:prstDash val="solid"/>
          </a:ln>
          <a:effectLst>
            <a:outerShdw blurRad="101600" dist="25400" dir="5400000" algn="bl" rotWithShape="0">
              <a:srgbClr val="9FB3C0">
                <a:alpha val="25000"/>
              </a:srgbClr>
            </a:outerShdw>
          </a:effectLst>
        </p:spPr>
        <p:txBody>
          <a:bodyPr/>
          <a:lstStyle/>
          <a:p>
            <a:endParaRPr lang="en-US"/>
          </a:p>
        </p:txBody>
      </p:sp>
      <p:sp>
        <p:nvSpPr>
          <p:cNvPr id="6" name="Text 3"/>
          <p:cNvSpPr txBox="1"/>
          <p:nvPr/>
        </p:nvSpPr>
        <p:spPr>
          <a:xfrm>
            <a:off x="7498080" y="2167128"/>
            <a:ext cx="1828800" cy="777240"/>
          </a:xfrm>
          <a:prstGeom prst="rect">
            <a:avLst/>
          </a:prstGeom>
          <a:noFill/>
          <a:ln/>
        </p:spPr>
        <p:txBody>
          <a:bodyPr wrap="square" lIns="0" tIns="0" rIns="0" bIns="0" rtlCol="0" anchor="ctr"/>
          <a:lstStyle/>
          <a:p>
            <a:pPr marL="0" indent="0" algn="ctr">
              <a:buNone/>
            </a:pPr>
            <a:r>
              <a:rPr lang="en-US" sz="4000" b="1" dirty="0">
                <a:solidFill>
                  <a:srgbClr val="0891B2"/>
                </a:solidFill>
                <a:latin typeface="Cambria" pitchFamily="34" charset="0"/>
                <a:ea typeface="Cambria" pitchFamily="34" charset="-122"/>
                <a:cs typeface="Cambria" pitchFamily="34" charset="-120"/>
              </a:rPr>
              <a:t>26.5%</a:t>
            </a:r>
            <a:endParaRPr lang="en-US" sz="4000" dirty="0"/>
          </a:p>
        </p:txBody>
      </p:sp>
      <p:sp>
        <p:nvSpPr>
          <p:cNvPr id="7" name="Text 4"/>
          <p:cNvSpPr txBox="1"/>
          <p:nvPr/>
        </p:nvSpPr>
        <p:spPr>
          <a:xfrm>
            <a:off x="7616952" y="2935224"/>
            <a:ext cx="1591056" cy="320040"/>
          </a:xfrm>
          <a:prstGeom prst="rect">
            <a:avLst/>
          </a:prstGeom>
          <a:noFill/>
          <a:ln/>
        </p:spPr>
        <p:txBody>
          <a:bodyPr wrap="square" lIns="0" tIns="0" rIns="0" bIns="0" rtlCol="0" anchor="t"/>
          <a:lstStyle/>
          <a:p>
            <a:pPr marL="0" indent="0" algn="ctr">
              <a:buNone/>
            </a:pPr>
            <a:r>
              <a:rPr lang="en-US" sz="1300" b="1" dirty="0">
                <a:solidFill>
                  <a:srgbClr val="1A2733"/>
                </a:solidFill>
                <a:latin typeface="Calibri" pitchFamily="34" charset="0"/>
                <a:ea typeface="Calibri" pitchFamily="34" charset="-122"/>
                <a:cs typeface="Calibri" pitchFamily="34" charset="-120"/>
              </a:rPr>
              <a:t>Human</a:t>
            </a:r>
            <a:endParaRPr lang="en-US" sz="1300" dirty="0"/>
          </a:p>
        </p:txBody>
      </p:sp>
      <p:sp>
        <p:nvSpPr>
          <p:cNvPr id="8" name="Text 5"/>
          <p:cNvSpPr txBox="1"/>
          <p:nvPr/>
        </p:nvSpPr>
        <p:spPr>
          <a:xfrm>
            <a:off x="7616952" y="3264408"/>
            <a:ext cx="1591056" cy="384048"/>
          </a:xfrm>
          <a:prstGeom prst="rect">
            <a:avLst/>
          </a:prstGeom>
          <a:noFill/>
          <a:ln/>
        </p:spPr>
        <p:txBody>
          <a:bodyPr wrap="square" lIns="0" tIns="0" rIns="0" bIns="0" rtlCol="0" anchor="t"/>
          <a:lstStyle/>
          <a:p>
            <a:pPr marL="0" indent="0" algn="ctr">
              <a:buNone/>
            </a:pPr>
            <a:r>
              <a:rPr lang="en-US" sz="1000" dirty="0">
                <a:solidFill>
                  <a:srgbClr val="5B7183"/>
                </a:solidFill>
                <a:latin typeface="Calibri" pitchFamily="34" charset="0"/>
                <a:ea typeface="Calibri" pitchFamily="34" charset="-122"/>
                <a:cs typeface="Calibri" pitchFamily="34" charset="-120"/>
              </a:rPr>
              <a:t>of item responses</a:t>
            </a:r>
            <a:endParaRPr lang="en-US" sz="1000" dirty="0"/>
          </a:p>
        </p:txBody>
      </p:sp>
      <p:sp>
        <p:nvSpPr>
          <p:cNvPr id="9" name="Shape 6"/>
          <p:cNvSpPr/>
          <p:nvPr/>
        </p:nvSpPr>
        <p:spPr>
          <a:xfrm>
            <a:off x="9509760" y="1965960"/>
            <a:ext cx="2011680" cy="1783080"/>
          </a:xfrm>
          <a:prstGeom prst="roundRect">
            <a:avLst>
              <a:gd name="adj" fmla="val 4103"/>
            </a:avLst>
          </a:prstGeom>
          <a:solidFill>
            <a:srgbClr val="FFFFFF"/>
          </a:solidFill>
          <a:ln w="12700">
            <a:solidFill>
              <a:srgbClr val="DCE5EB"/>
            </a:solidFill>
            <a:prstDash val="solid"/>
          </a:ln>
          <a:effectLst>
            <a:outerShdw blurRad="101600" dist="25400" dir="5400000" algn="bl" rotWithShape="0">
              <a:srgbClr val="9FB3C0">
                <a:alpha val="25000"/>
              </a:srgbClr>
            </a:outerShdw>
          </a:effectLst>
        </p:spPr>
        <p:txBody>
          <a:bodyPr/>
          <a:lstStyle/>
          <a:p>
            <a:endParaRPr lang="en-US"/>
          </a:p>
        </p:txBody>
      </p:sp>
      <p:sp>
        <p:nvSpPr>
          <p:cNvPr id="10" name="Text 7"/>
          <p:cNvSpPr txBox="1"/>
          <p:nvPr/>
        </p:nvSpPr>
        <p:spPr>
          <a:xfrm>
            <a:off x="9555480" y="2167128"/>
            <a:ext cx="1920240" cy="777240"/>
          </a:xfrm>
          <a:prstGeom prst="rect">
            <a:avLst/>
          </a:prstGeom>
          <a:noFill/>
          <a:ln/>
        </p:spPr>
        <p:txBody>
          <a:bodyPr wrap="square" lIns="0" tIns="0" rIns="0" bIns="0" rtlCol="0" anchor="ctr"/>
          <a:lstStyle/>
          <a:p>
            <a:pPr marL="0" indent="0" algn="ctr">
              <a:buNone/>
            </a:pPr>
            <a:r>
              <a:rPr lang="en-US" sz="4000" b="1" dirty="0">
                <a:solidFill>
                  <a:srgbClr val="C2683B"/>
                </a:solidFill>
                <a:latin typeface="Cambria" pitchFamily="34" charset="0"/>
                <a:ea typeface="Cambria" pitchFamily="34" charset="-122"/>
                <a:cs typeface="Cambria" pitchFamily="34" charset="-120"/>
              </a:rPr>
              <a:t>0</a:t>
            </a:r>
            <a:endParaRPr lang="en-US" sz="4000" dirty="0"/>
          </a:p>
        </p:txBody>
      </p:sp>
      <p:sp>
        <p:nvSpPr>
          <p:cNvPr id="11" name="Text 8"/>
          <p:cNvSpPr txBox="1"/>
          <p:nvPr/>
        </p:nvSpPr>
        <p:spPr>
          <a:xfrm>
            <a:off x="9674352" y="2935224"/>
            <a:ext cx="1682496" cy="320040"/>
          </a:xfrm>
          <a:prstGeom prst="rect">
            <a:avLst/>
          </a:prstGeom>
          <a:noFill/>
          <a:ln/>
        </p:spPr>
        <p:txBody>
          <a:bodyPr wrap="square" lIns="0" tIns="0" rIns="0" bIns="0" rtlCol="0" anchor="t"/>
          <a:lstStyle/>
          <a:p>
            <a:pPr marL="0" indent="0" algn="ctr">
              <a:buNone/>
            </a:pPr>
            <a:r>
              <a:rPr lang="en-US" sz="1300" b="1" dirty="0">
                <a:solidFill>
                  <a:srgbClr val="1A2733"/>
                </a:solidFill>
                <a:latin typeface="Calibri" pitchFamily="34" charset="0"/>
                <a:ea typeface="Calibri" pitchFamily="34" charset="-122"/>
                <a:cs typeface="Calibri" pitchFamily="34" charset="-120"/>
              </a:rPr>
              <a:t>July models</a:t>
            </a:r>
            <a:endParaRPr lang="en-US" sz="1300" dirty="0"/>
          </a:p>
        </p:txBody>
      </p:sp>
      <p:sp>
        <p:nvSpPr>
          <p:cNvPr id="12" name="Text 9"/>
          <p:cNvSpPr txBox="1"/>
          <p:nvPr/>
        </p:nvSpPr>
        <p:spPr>
          <a:xfrm>
            <a:off x="9674352" y="3264408"/>
            <a:ext cx="1682496" cy="384048"/>
          </a:xfrm>
          <a:prstGeom prst="rect">
            <a:avLst/>
          </a:prstGeom>
          <a:noFill/>
          <a:ln/>
        </p:spPr>
        <p:txBody>
          <a:bodyPr wrap="square" lIns="0" tIns="0" rIns="0" bIns="0" rtlCol="0" anchor="t"/>
          <a:lstStyle/>
          <a:p>
            <a:pPr marL="0" indent="0" algn="ctr">
              <a:buNone/>
            </a:pPr>
            <a:r>
              <a:rPr lang="en-US" sz="1000" dirty="0">
                <a:solidFill>
                  <a:srgbClr val="5B7183"/>
                </a:solidFill>
                <a:latin typeface="Calibri" pitchFamily="34" charset="0"/>
                <a:ea typeface="Calibri" pitchFamily="34" charset="-122"/>
                <a:cs typeface="Calibri" pitchFamily="34" charset="-120"/>
              </a:rPr>
              <a:t>in 3,431 scorings</a:t>
            </a:r>
            <a:endParaRPr lang="en-US" sz="1000" dirty="0"/>
          </a:p>
        </p:txBody>
      </p:sp>
      <p:sp>
        <p:nvSpPr>
          <p:cNvPr id="13" name="Text 10"/>
          <p:cNvSpPr txBox="1"/>
          <p:nvPr/>
        </p:nvSpPr>
        <p:spPr>
          <a:xfrm>
            <a:off x="7452360" y="3977640"/>
            <a:ext cx="4069080" cy="2011680"/>
          </a:xfrm>
          <a:prstGeom prst="rect">
            <a:avLst/>
          </a:prstGeom>
          <a:noFill/>
          <a:ln/>
        </p:spPr>
        <p:txBody>
          <a:bodyPr wrap="square" lIns="0" tIns="0" rIns="0" bIns="0" rtlCol="0" anchor="t"/>
          <a:lstStyle/>
          <a:p>
            <a:pPr marL="0" indent="0">
              <a:spcAft>
                <a:spcPts val="1000"/>
              </a:spcAft>
              <a:buNone/>
            </a:pPr>
            <a:r>
              <a:rPr lang="en-US" sz="1300" dirty="0">
                <a:solidFill>
                  <a:srgbClr val="1A2733"/>
                </a:solidFill>
                <a:latin typeface="Calibri" pitchFamily="34" charset="0"/>
                <a:ea typeface="Calibri" pitchFamily="34" charset="-122"/>
                <a:cs typeface="Calibri" pitchFamily="34" charset="-120"/>
              </a:rPr>
              <a:t>The March 2026 generation abstained on 7.5% of responses, concentrated in four of nine models. The capability was there one generation ago and is gone now.</a:t>
            </a:r>
            <a:endParaRPr lang="en-US" sz="1300" dirty="0"/>
          </a:p>
          <a:p>
            <a:pPr marL="0" indent="0">
              <a:buNone/>
            </a:pPr>
            <a:r>
              <a:rPr lang="en-US" sz="1300" dirty="0">
                <a:solidFill>
                  <a:srgbClr val="1A2733"/>
                </a:solidFill>
                <a:latin typeface="Calibri" pitchFamily="34" charset="0"/>
                <a:ea typeface="Calibri" pitchFamily="34" charset="-122"/>
                <a:cs typeface="Calibri" pitchFamily="34" charset="-120"/>
              </a:rPr>
              <a:t>Human abstention is orderly, not careless: highest on what must be inferred (trade-off reasoning 38%), lowest on what the case states outright (value clarity 7%), and uncorrelated with the case’s autonomy level (r = 0.10).</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640"/>
        </a:solidFill>
        <a:effectLst/>
      </p:bgPr>
    </p:bg>
    <p:spTree>
      <p:nvGrpSpPr>
        <p:cNvPr id="1" name=""/>
        <p:cNvGrpSpPr/>
        <p:nvPr/>
      </p:nvGrpSpPr>
      <p:grpSpPr>
        <a:xfrm>
          <a:off x="0" y="0"/>
          <a:ext cx="0" cy="0"/>
          <a:chOff x="0" y="0"/>
          <a:chExt cx="0" cy="0"/>
        </a:xfrm>
      </p:grpSpPr>
      <p:sp>
        <p:nvSpPr>
          <p:cNvPr id="2" name="Text 0"/>
          <p:cNvSpPr txBox="1"/>
          <p:nvPr/>
        </p:nvSpPr>
        <p:spPr>
          <a:xfrm>
            <a:off x="685800" y="1371600"/>
            <a:ext cx="7315200" cy="274320"/>
          </a:xfrm>
          <a:prstGeom prst="rect">
            <a:avLst/>
          </a:prstGeom>
          <a:noFill/>
          <a:ln/>
        </p:spPr>
        <p:txBody>
          <a:bodyPr wrap="square" lIns="0" tIns="0" rIns="0" bIns="0" rtlCol="0" anchor="t"/>
          <a:lstStyle/>
          <a:p>
            <a:pPr marL="0" indent="0">
              <a:buNone/>
            </a:pPr>
            <a:r>
              <a:rPr lang="en-US" sz="1100" b="1" kern="0" spc="200" dirty="0">
                <a:solidFill>
                  <a:srgbClr val="0891B2"/>
                </a:solidFill>
                <a:latin typeface="Calibri" pitchFamily="34" charset="0"/>
                <a:ea typeface="Calibri" pitchFamily="34" charset="-122"/>
                <a:cs typeface="Calibri" pitchFamily="34" charset="-120"/>
              </a:rPr>
              <a:t>WHY IT MATTERS</a:t>
            </a:r>
            <a:endParaRPr lang="en-US" sz="1100" dirty="0"/>
          </a:p>
        </p:txBody>
      </p:sp>
      <p:sp>
        <p:nvSpPr>
          <p:cNvPr id="3" name="Text 1"/>
          <p:cNvSpPr txBox="1"/>
          <p:nvPr/>
        </p:nvSpPr>
        <p:spPr>
          <a:xfrm>
            <a:off x="685800" y="1783080"/>
            <a:ext cx="10424160" cy="2194560"/>
          </a:xfrm>
          <a:prstGeom prst="rect">
            <a:avLst/>
          </a:prstGeom>
          <a:noFill/>
          <a:ln/>
        </p:spPr>
        <p:txBody>
          <a:bodyPr wrap="square" lIns="0" tIns="0" rIns="0" bIns="0" rtlCol="0" anchor="t"/>
          <a:lstStyle/>
          <a:p>
            <a:pPr marL="0" indent="0">
              <a:lnSpc>
                <a:spcPts val="4400"/>
              </a:lnSpc>
              <a:buNone/>
            </a:pPr>
            <a:r>
              <a:rPr lang="en-US" sz="3400" b="1" dirty="0">
                <a:solidFill>
                  <a:srgbClr val="FFFFFF"/>
                </a:solidFill>
                <a:latin typeface="Cambria" pitchFamily="34" charset="0"/>
                <a:ea typeface="Cambria" pitchFamily="34" charset="-122"/>
                <a:cs typeface="Cambria" pitchFamily="34" charset="-120"/>
              </a:rPr>
              <a:t>A system that never reports insufficient</a:t>
            </a:r>
            <a:endParaRPr lang="en-US" sz="3400" dirty="0"/>
          </a:p>
          <a:p>
            <a:pPr marL="0" indent="0">
              <a:lnSpc>
                <a:spcPts val="4400"/>
              </a:lnSpc>
              <a:buNone/>
            </a:pPr>
            <a:r>
              <a:rPr lang="en-US" sz="3400" b="1" dirty="0">
                <a:solidFill>
                  <a:srgbClr val="FFFFFF"/>
                </a:solidFill>
                <a:latin typeface="Cambria" pitchFamily="34" charset="0"/>
                <a:ea typeface="Cambria" pitchFamily="34" charset="-122"/>
                <a:cs typeface="Cambria" pitchFamily="34" charset="-120"/>
              </a:rPr>
              <a:t>information cannot flag the cases where a</a:t>
            </a:r>
            <a:endParaRPr lang="en-US" sz="3400" dirty="0"/>
          </a:p>
          <a:p>
            <a:pPr marL="0" indent="0">
              <a:lnSpc>
                <a:spcPts val="4400"/>
              </a:lnSpc>
              <a:buNone/>
            </a:pPr>
            <a:r>
              <a:rPr lang="en-US" sz="3400" b="1" dirty="0">
                <a:solidFill>
                  <a:srgbClr val="FFFFFF"/>
                </a:solidFill>
                <a:latin typeface="Cambria" pitchFamily="34" charset="0"/>
                <a:ea typeface="Cambria" pitchFamily="34" charset="-122"/>
                <a:cs typeface="Cambria" pitchFamily="34" charset="-120"/>
              </a:rPr>
              <a:t>clinician should go and ask.</a:t>
            </a:r>
            <a:endParaRPr lang="en-US" sz="3400" dirty="0"/>
          </a:p>
        </p:txBody>
      </p:sp>
      <p:sp>
        <p:nvSpPr>
          <p:cNvPr id="4" name="Text 2"/>
          <p:cNvSpPr txBox="1"/>
          <p:nvPr/>
        </p:nvSpPr>
        <p:spPr>
          <a:xfrm>
            <a:off x="685800" y="4160520"/>
            <a:ext cx="9601200" cy="457200"/>
          </a:xfrm>
          <a:prstGeom prst="rect">
            <a:avLst/>
          </a:prstGeom>
          <a:noFill/>
          <a:ln/>
        </p:spPr>
        <p:txBody>
          <a:bodyPr wrap="square" lIns="0" tIns="0" rIns="0" bIns="0" rtlCol="0" anchor="t"/>
          <a:lstStyle/>
          <a:p>
            <a:pPr marL="0" indent="0">
              <a:buNone/>
            </a:pPr>
            <a:r>
              <a:rPr lang="en-US" sz="1700" dirty="0">
                <a:solidFill>
                  <a:srgbClr val="0891B2"/>
                </a:solidFill>
                <a:latin typeface="Calibri" pitchFamily="34" charset="0"/>
                <a:ea typeface="Calibri" pitchFamily="34" charset="-122"/>
                <a:cs typeface="Calibri" pitchFamily="34" charset="-120"/>
              </a:rPr>
              <a:t>Which is exactly the circumstance in which a capacity-support tool would earn its place.</a:t>
            </a:r>
            <a:endParaRPr lang="en-US" sz="1700" dirty="0"/>
          </a:p>
        </p:txBody>
      </p:sp>
      <p:sp>
        <p:nvSpPr>
          <p:cNvPr id="5" name="Text 3"/>
          <p:cNvSpPr txBox="1"/>
          <p:nvPr/>
        </p:nvSpPr>
        <p:spPr>
          <a:xfrm>
            <a:off x="685800" y="5029200"/>
            <a:ext cx="10424160" cy="1005840"/>
          </a:xfrm>
          <a:prstGeom prst="rect">
            <a:avLst/>
          </a:prstGeom>
          <a:noFill/>
          <a:ln/>
        </p:spPr>
        <p:txBody>
          <a:bodyPr wrap="square" lIns="0" tIns="0" rIns="0" bIns="0" rtlCol="0" anchor="t"/>
          <a:lstStyle/>
          <a:p>
            <a:pPr marL="0" indent="0">
              <a:buNone/>
            </a:pPr>
            <a:r>
              <a:rPr lang="en-US" sz="1350" dirty="0">
                <a:solidFill>
                  <a:srgbClr val="8FA9BA"/>
                </a:solidFill>
                <a:latin typeface="Calibri" pitchFamily="34" charset="0"/>
                <a:ea typeface="Calibri" pitchFamily="34" charset="-122"/>
                <a:cs typeface="Calibri" pitchFamily="34" charset="-120"/>
              </a:rPr>
              <a:t>Two readings, and this design cannot separate them: models may judge the vignettes to contain sufficient evidence where reviewers do not, or models may be disposed to answer any well-formed request. The operational implication is the same either way.</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384048"/>
            <a:ext cx="10058400" cy="256032"/>
          </a:xfrm>
          <a:prstGeom prst="rect">
            <a:avLst/>
          </a:prstGeom>
          <a:noFill/>
          <a:ln/>
        </p:spPr>
        <p:txBody>
          <a:bodyPr wrap="square" lIns="0" tIns="0" rIns="0" bIns="0" rtlCol="0" anchor="t"/>
          <a:lstStyle/>
          <a:p>
            <a:pPr marL="0" indent="0">
              <a:buNone/>
            </a:pPr>
            <a:r>
              <a:rPr lang="en-US" sz="1100" b="1" kern="0" spc="200" dirty="0">
                <a:solidFill>
                  <a:srgbClr val="0891B2"/>
                </a:solidFill>
                <a:latin typeface="Calibri" pitchFamily="34" charset="0"/>
                <a:ea typeface="Calibri" pitchFamily="34" charset="-122"/>
                <a:cs typeface="Calibri" pitchFamily="34" charset="-120"/>
              </a:rPr>
              <a:t>FINDING 3</a:t>
            </a:r>
            <a:endParaRPr lang="en-US" sz="1100" dirty="0"/>
          </a:p>
        </p:txBody>
      </p:sp>
      <p:sp>
        <p:nvSpPr>
          <p:cNvPr id="3" name="Text 1"/>
          <p:cNvSpPr txBox="1"/>
          <p:nvPr/>
        </p:nvSpPr>
        <p:spPr>
          <a:xfrm>
            <a:off x="685800" y="658368"/>
            <a:ext cx="10881360" cy="777240"/>
          </a:xfrm>
          <a:prstGeom prst="rect">
            <a:avLst/>
          </a:prstGeom>
          <a:noFill/>
          <a:ln/>
        </p:spPr>
        <p:txBody>
          <a:bodyPr wrap="square" lIns="0" tIns="0" rIns="0" bIns="0" rtlCol="0" anchor="t"/>
          <a:lstStyle/>
          <a:p>
            <a:pPr marL="0" indent="0">
              <a:buNone/>
            </a:pPr>
            <a:r>
              <a:rPr lang="en-US" sz="3000" b="1" dirty="0">
                <a:solidFill>
                  <a:srgbClr val="0D2640"/>
                </a:solidFill>
                <a:latin typeface="Cambria" pitchFamily="34" charset="0"/>
                <a:ea typeface="Cambria" pitchFamily="34" charset="-122"/>
                <a:cs typeface="Cambria" pitchFamily="34" charset="-120"/>
              </a:rPr>
              <a:t>They agree on the circumstances and disagree about the person</a:t>
            </a:r>
            <a:endParaRPr lang="en-US" sz="3000" dirty="0"/>
          </a:p>
        </p:txBody>
      </p:sp>
      <p:pic>
        <p:nvPicPr>
          <p:cNvPr id="4" name="Image 0" descr="/home/claude/repo/figures/fig10_negative_control.png"/>
          <p:cNvPicPr>
            <a:picLocks noChangeAspect="1"/>
          </p:cNvPicPr>
          <p:nvPr/>
        </p:nvPicPr>
        <p:blipFill>
          <a:blip r:embed="rId3"/>
          <a:stretch>
            <a:fillRect/>
          </a:stretch>
        </p:blipFill>
        <p:spPr>
          <a:xfrm>
            <a:off x="1344168" y="1783080"/>
            <a:ext cx="9509760" cy="3232484"/>
          </a:xfrm>
          <a:prstGeom prst="rect">
            <a:avLst/>
          </a:prstGeom>
        </p:spPr>
      </p:pic>
      <p:sp>
        <p:nvSpPr>
          <p:cNvPr id="5" name="Text 2"/>
          <p:cNvSpPr txBox="1"/>
          <p:nvPr/>
        </p:nvSpPr>
        <p:spPr>
          <a:xfrm>
            <a:off x="685800" y="5230368"/>
            <a:ext cx="10835640" cy="685800"/>
          </a:xfrm>
          <a:prstGeom prst="rect">
            <a:avLst/>
          </a:prstGeom>
          <a:noFill/>
          <a:ln/>
        </p:spPr>
        <p:txBody>
          <a:bodyPr wrap="square" lIns="0" tIns="0" rIns="0" bIns="0" rtlCol="0" anchor="t"/>
          <a:lstStyle/>
          <a:p>
            <a:pPr marL="0" indent="0">
              <a:buNone/>
            </a:pPr>
            <a:r>
              <a:rPr lang="en-US" sz="1400" dirty="0">
                <a:solidFill>
                  <a:srgbClr val="1A2733"/>
                </a:solidFill>
                <a:latin typeface="Calibri" pitchFamily="34" charset="0"/>
                <a:ea typeface="Calibri" pitchFamily="34" charset="-122"/>
                <a:cs typeface="Calibri" pitchFamily="34" charset="-120"/>
              </a:rPr>
              <a:t>ECI and SPI were rated by the same reviewers, from the same vignettes, in the same sitting, on the same response format. If the divergence on autonomy came from models reading the cases differently or answering more conservatively in general, it would show up here too. It does not.</a:t>
            </a:r>
            <a:endParaRPr lang="en-US" sz="1400" dirty="0"/>
          </a:p>
        </p:txBody>
      </p:sp>
      <p:sp>
        <p:nvSpPr>
          <p:cNvPr id="6" name="Text 3"/>
          <p:cNvSpPr txBox="1"/>
          <p:nvPr/>
        </p:nvSpPr>
        <p:spPr>
          <a:xfrm>
            <a:off x="685800" y="5989320"/>
            <a:ext cx="10835640" cy="457200"/>
          </a:xfrm>
          <a:prstGeom prst="rect">
            <a:avLst/>
          </a:prstGeom>
          <a:noFill/>
          <a:ln/>
        </p:spPr>
        <p:txBody>
          <a:bodyPr wrap="square" lIns="0" tIns="0" rIns="0" bIns="0" rtlCol="0" anchor="t"/>
          <a:lstStyle/>
          <a:p>
            <a:pPr marL="0" indent="0">
              <a:buNone/>
            </a:pPr>
            <a:r>
              <a:rPr lang="en-US" sz="1200" i="1" dirty="0">
                <a:solidFill>
                  <a:srgbClr val="5B7183"/>
                </a:solidFill>
                <a:latin typeface="Calibri" pitchFamily="34" charset="0"/>
                <a:ea typeface="Calibri" pitchFamily="34" charset="-122"/>
                <a:cs typeface="Calibri" pitchFamily="34" charset="-120"/>
              </a:rPr>
              <a:t>Neither modifier moderates the gap (ECI r = 0.07; SPI r = 0.20). The March-generation claim that models discount autonomy most under heavy constraint does not replicate and is withdrawn.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9"/>
        </a:solidFill>
        <a:effectLst/>
      </p:bgPr>
    </p:bg>
    <p:spTree>
      <p:nvGrpSpPr>
        <p:cNvPr id="1" name=""/>
        <p:cNvGrpSpPr/>
        <p:nvPr/>
      </p:nvGrpSpPr>
      <p:grpSpPr>
        <a:xfrm>
          <a:off x="0" y="0"/>
          <a:ext cx="0" cy="0"/>
          <a:chOff x="0" y="0"/>
          <a:chExt cx="0" cy="0"/>
        </a:xfrm>
      </p:grpSpPr>
      <p:sp>
        <p:nvSpPr>
          <p:cNvPr id="2" name="Text 0"/>
          <p:cNvSpPr txBox="1"/>
          <p:nvPr/>
        </p:nvSpPr>
        <p:spPr>
          <a:xfrm>
            <a:off x="685800" y="384048"/>
            <a:ext cx="10058400" cy="256032"/>
          </a:xfrm>
          <a:prstGeom prst="rect">
            <a:avLst/>
          </a:prstGeom>
          <a:noFill/>
          <a:ln/>
        </p:spPr>
        <p:txBody>
          <a:bodyPr wrap="square" lIns="0" tIns="0" rIns="0" bIns="0" rtlCol="0" anchor="t"/>
          <a:lstStyle/>
          <a:p>
            <a:pPr marL="0" indent="0">
              <a:buNone/>
            </a:pPr>
            <a:r>
              <a:rPr lang="en-US" sz="1100" b="1" kern="0" spc="200" dirty="0">
                <a:solidFill>
                  <a:srgbClr val="0891B2"/>
                </a:solidFill>
                <a:latin typeface="Calibri" pitchFamily="34" charset="0"/>
                <a:ea typeface="Calibri" pitchFamily="34" charset="-122"/>
                <a:cs typeface="Calibri" pitchFamily="34" charset="-120"/>
              </a:rPr>
              <a:t>ROBUSTNESS</a:t>
            </a:r>
            <a:endParaRPr lang="en-US" sz="1100" dirty="0"/>
          </a:p>
        </p:txBody>
      </p:sp>
      <p:sp>
        <p:nvSpPr>
          <p:cNvPr id="3" name="Text 1"/>
          <p:cNvSpPr txBox="1"/>
          <p:nvPr/>
        </p:nvSpPr>
        <p:spPr>
          <a:xfrm>
            <a:off x="685800" y="658368"/>
            <a:ext cx="10881360" cy="777240"/>
          </a:xfrm>
          <a:prstGeom prst="rect">
            <a:avLst/>
          </a:prstGeom>
          <a:noFill/>
          <a:ln/>
        </p:spPr>
        <p:txBody>
          <a:bodyPr wrap="square" lIns="0" tIns="0" rIns="0" bIns="0" rtlCol="0" anchor="t"/>
          <a:lstStyle/>
          <a:p>
            <a:pPr marL="0" indent="0">
              <a:buNone/>
            </a:pPr>
            <a:r>
              <a:rPr lang="en-US" sz="3000" b="1" dirty="0">
                <a:solidFill>
                  <a:srgbClr val="0D2640"/>
                </a:solidFill>
                <a:latin typeface="Cambria" pitchFamily="34" charset="0"/>
                <a:ea typeface="Cambria" pitchFamily="34" charset="-122"/>
                <a:cs typeface="Cambria" pitchFamily="34" charset="-120"/>
              </a:rPr>
              <a:t>Every model, same direction — but not the same size</a:t>
            </a:r>
            <a:endParaRPr lang="en-US" sz="3000" dirty="0"/>
          </a:p>
        </p:txBody>
      </p:sp>
      <p:pic>
        <p:nvPicPr>
          <p:cNvPr id="4" name="Image 0" descr="/home/claude/repo/figures/fig8_per_model.png"/>
          <p:cNvPicPr>
            <a:picLocks noChangeAspect="1"/>
          </p:cNvPicPr>
          <p:nvPr/>
        </p:nvPicPr>
        <p:blipFill>
          <a:blip r:embed="rId3"/>
          <a:stretch>
            <a:fillRect/>
          </a:stretch>
        </p:blipFill>
        <p:spPr>
          <a:xfrm>
            <a:off x="685800" y="1965960"/>
            <a:ext cx="5760720" cy="3371161"/>
          </a:xfrm>
          <a:prstGeom prst="rect">
            <a:avLst/>
          </a:prstGeom>
        </p:spPr>
      </p:pic>
      <p:sp>
        <p:nvSpPr>
          <p:cNvPr id="5" name="Text 2"/>
          <p:cNvSpPr txBox="1"/>
          <p:nvPr/>
        </p:nvSpPr>
        <p:spPr>
          <a:xfrm>
            <a:off x="6858000" y="2148840"/>
            <a:ext cx="4663440" cy="3291840"/>
          </a:xfrm>
          <a:prstGeom prst="rect">
            <a:avLst/>
          </a:prstGeom>
          <a:noFill/>
          <a:ln/>
        </p:spPr>
        <p:txBody>
          <a:bodyPr wrap="square" lIns="0" tIns="0" rIns="0" bIns="0" rtlCol="0" anchor="t"/>
          <a:lstStyle/>
          <a:p>
            <a:pPr marL="0" indent="0">
              <a:spcAft>
                <a:spcPts val="1000"/>
              </a:spcAft>
              <a:buNone/>
            </a:pPr>
            <a:r>
              <a:rPr lang="en-US" sz="1350" dirty="0">
                <a:solidFill>
                  <a:srgbClr val="1A2733"/>
                </a:solidFill>
                <a:latin typeface="Calibri" pitchFamily="34" charset="0"/>
                <a:ea typeface="Calibri" pitchFamily="34" charset="-122"/>
                <a:cs typeface="Calibri" pitchFamily="34" charset="-120"/>
              </a:rPr>
              <a:t>Eight models from six developers, proprietary and open-weight, all show the effect and every confidence interval excludes zero.</a:t>
            </a:r>
            <a:endParaRPr lang="en-US" sz="1350" dirty="0"/>
          </a:p>
          <a:p>
            <a:pPr marL="0" indent="0">
              <a:spcAft>
                <a:spcPts val="1000"/>
              </a:spcAft>
              <a:buNone/>
            </a:pPr>
            <a:r>
              <a:rPr lang="en-US" sz="1350" dirty="0">
                <a:solidFill>
                  <a:srgbClr val="1A2733"/>
                </a:solidFill>
                <a:latin typeface="Calibri" pitchFamily="34" charset="0"/>
                <a:ea typeface="Calibri" pitchFamily="34" charset="-122"/>
                <a:cs typeface="Calibri" pitchFamily="34" charset="-120"/>
              </a:rPr>
              <a:t>The spread is not trivial, though: +7.0 for the closest model against +14.8 for the widest, a factor of two on an eleven-point effect. Model choice narrows the difference. It does not remove it.</a:t>
            </a:r>
            <a:endParaRPr lang="en-US" sz="1350" dirty="0"/>
          </a:p>
          <a:p>
            <a:pPr marL="0" indent="0">
              <a:buNone/>
            </a:pPr>
            <a:r>
              <a:rPr lang="en-US" sz="1350" dirty="0">
                <a:solidFill>
                  <a:srgbClr val="1A2733"/>
                </a:solidFill>
                <a:latin typeface="Calibri" pitchFamily="34" charset="0"/>
                <a:ea typeface="Calibri" pitchFamily="34" charset="-122"/>
                <a:cs typeface="Calibri" pitchFamily="34" charset="-120"/>
              </a:rPr>
              <a:t>Self-consistency varies far more than level does — mean within-vignette SD runs from 0.7 to 10.6 points across the eight. A displaced but stable model and a noisy one call for different responses in deployment.</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384048"/>
            <a:ext cx="10058400" cy="256032"/>
          </a:xfrm>
          <a:prstGeom prst="rect">
            <a:avLst/>
          </a:prstGeom>
          <a:noFill/>
          <a:ln/>
        </p:spPr>
        <p:txBody>
          <a:bodyPr wrap="square" lIns="0" tIns="0" rIns="0" bIns="0" rtlCol="0" anchor="t"/>
          <a:lstStyle/>
          <a:p>
            <a:pPr marL="0" indent="0">
              <a:buNone/>
            </a:pPr>
            <a:r>
              <a:rPr lang="en-US" sz="1100" b="1" kern="0" spc="200" dirty="0">
                <a:solidFill>
                  <a:srgbClr val="0891B2"/>
                </a:solidFill>
                <a:latin typeface="Calibri" pitchFamily="34" charset="0"/>
                <a:ea typeface="Calibri" pitchFamily="34" charset="-122"/>
                <a:cs typeface="Calibri" pitchFamily="34" charset="-120"/>
              </a:rPr>
              <a:t>ROBUSTNESS</a:t>
            </a:r>
            <a:endParaRPr lang="en-US" sz="1100" dirty="0"/>
          </a:p>
        </p:txBody>
      </p:sp>
      <p:sp>
        <p:nvSpPr>
          <p:cNvPr id="3" name="Text 1"/>
          <p:cNvSpPr txBox="1"/>
          <p:nvPr/>
        </p:nvSpPr>
        <p:spPr>
          <a:xfrm>
            <a:off x="685800" y="658368"/>
            <a:ext cx="10881360" cy="777240"/>
          </a:xfrm>
          <a:prstGeom prst="rect">
            <a:avLst/>
          </a:prstGeom>
          <a:noFill/>
          <a:ln/>
        </p:spPr>
        <p:txBody>
          <a:bodyPr wrap="square" lIns="0" tIns="0" rIns="0" bIns="0" rtlCol="0" anchor="t"/>
          <a:lstStyle/>
          <a:p>
            <a:pPr marL="0" indent="0">
              <a:buNone/>
            </a:pPr>
            <a:r>
              <a:rPr lang="en-US" sz="3000" b="1" dirty="0">
                <a:solidFill>
                  <a:srgbClr val="0D2640"/>
                </a:solidFill>
                <a:latin typeface="Cambria" pitchFamily="34" charset="0"/>
                <a:ea typeface="Cambria" pitchFamily="34" charset="-122"/>
                <a:cs typeface="Cambria" pitchFamily="34" charset="-120"/>
              </a:rPr>
              <a:t>A model generation moved the level by 0.2 points</a:t>
            </a:r>
            <a:endParaRPr lang="en-US" sz="3000" dirty="0"/>
          </a:p>
        </p:txBody>
      </p:sp>
      <p:graphicFrame>
        <p:nvGraphicFramePr>
          <p:cNvPr id="4" name="Chart 0"/>
          <p:cNvGraphicFramePr/>
          <p:nvPr/>
        </p:nvGraphicFramePr>
        <p:xfrm>
          <a:off x="685800" y="1965960"/>
          <a:ext cx="649224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452360" y="2194560"/>
            <a:ext cx="4069080" cy="411480"/>
          </a:xfrm>
          <a:prstGeom prst="rect">
            <a:avLst/>
          </a:prstGeom>
          <a:noFill/>
          <a:ln/>
        </p:spPr>
        <p:txBody>
          <a:bodyPr wrap="square" lIns="0" tIns="0" rIns="0" bIns="0" rtlCol="0" anchor="t"/>
          <a:lstStyle/>
          <a:p>
            <a:pPr marL="0" indent="0">
              <a:buNone/>
            </a:pPr>
            <a:r>
              <a:rPr lang="en-US" sz="2200" b="1" dirty="0">
                <a:solidFill>
                  <a:srgbClr val="0D2640"/>
                </a:solidFill>
                <a:latin typeface="Cambria" pitchFamily="34" charset="0"/>
                <a:ea typeface="Cambria" pitchFamily="34" charset="-122"/>
                <a:cs typeface="Cambria" pitchFamily="34" charset="-120"/>
              </a:rPr>
              <a:t>Composite 39.6 → 39.4</a:t>
            </a:r>
            <a:endParaRPr lang="en-US" sz="2200" dirty="0"/>
          </a:p>
        </p:txBody>
      </p:sp>
      <p:sp>
        <p:nvSpPr>
          <p:cNvPr id="6" name="Text 3"/>
          <p:cNvSpPr txBox="1"/>
          <p:nvPr/>
        </p:nvSpPr>
        <p:spPr>
          <a:xfrm>
            <a:off x="7452360" y="2633472"/>
            <a:ext cx="4069080" cy="274320"/>
          </a:xfrm>
          <a:prstGeom prst="rect">
            <a:avLst/>
          </a:prstGeom>
          <a:noFill/>
          <a:ln/>
        </p:spPr>
        <p:txBody>
          <a:bodyPr wrap="square" lIns="0" tIns="0" rIns="0" bIns="0" rtlCol="0" anchor="t"/>
          <a:lstStyle/>
          <a:p>
            <a:pPr marL="0" indent="0">
              <a:buNone/>
            </a:pPr>
            <a:r>
              <a:rPr lang="en-US" sz="1300" dirty="0">
                <a:solidFill>
                  <a:srgbClr val="5B7183"/>
                </a:solidFill>
                <a:latin typeface="Calibri" pitchFamily="34" charset="0"/>
                <a:ea typeface="Calibri" pitchFamily="34" charset="-122"/>
                <a:cs typeface="Calibri" pitchFamily="34" charset="-120"/>
              </a:rPr>
              <a:t>paired P = 0.90</a:t>
            </a:r>
            <a:endParaRPr lang="en-US" sz="1300" dirty="0"/>
          </a:p>
        </p:txBody>
      </p:sp>
      <p:sp>
        <p:nvSpPr>
          <p:cNvPr id="7" name="Text 4"/>
          <p:cNvSpPr txBox="1"/>
          <p:nvPr/>
        </p:nvSpPr>
        <p:spPr>
          <a:xfrm>
            <a:off x="7452360" y="3154680"/>
            <a:ext cx="4069080" cy="2194560"/>
          </a:xfrm>
          <a:prstGeom prst="rect">
            <a:avLst/>
          </a:prstGeom>
          <a:noFill/>
          <a:ln/>
        </p:spPr>
        <p:txBody>
          <a:bodyPr wrap="square" lIns="0" tIns="0" rIns="0" bIns="0" rtlCol="0" anchor="t"/>
          <a:lstStyle/>
          <a:p>
            <a:pPr marL="0" indent="0">
              <a:spcAft>
                <a:spcPts val="1000"/>
              </a:spcAft>
              <a:buNone/>
            </a:pPr>
            <a:r>
              <a:rPr lang="en-US" sz="1350" dirty="0">
                <a:solidFill>
                  <a:srgbClr val="1A2733"/>
                </a:solidFill>
                <a:latin typeface="Calibri" pitchFamily="34" charset="0"/>
                <a:ea typeface="Calibri" pitchFamily="34" charset="-122"/>
                <a:cs typeface="Calibri" pitchFamily="34" charset="-120"/>
              </a:rPr>
              <a:t>Nine models replaced by eight successors from the same developer set. No domain moves significantly. Agreement with the human reference is unchanged at r = 0.78.</a:t>
            </a:r>
            <a:endParaRPr lang="en-US" sz="1350" dirty="0"/>
          </a:p>
          <a:p>
            <a:pPr marL="0" indent="0">
              <a:buNone/>
            </a:pPr>
            <a:r>
              <a:rPr lang="en-US" sz="1350" dirty="0">
                <a:solidFill>
                  <a:srgbClr val="1A2733"/>
                </a:solidFill>
                <a:latin typeface="Calibri" pitchFamily="34" charset="0"/>
                <a:ea typeface="Calibri" pitchFamily="34" charset="-122"/>
                <a:cs typeface="Calibri" pitchFamily="34" charset="-120"/>
              </a:rPr>
              <a:t>The capability gains between these generations did not touch the disposition under study. The one thing that clearly did change — abstention — moved the wrong way.</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85800" y="384048"/>
            <a:ext cx="10058400" cy="256032"/>
          </a:xfrm>
          <a:prstGeom prst="rect">
            <a:avLst/>
          </a:prstGeom>
          <a:noFill/>
          <a:ln/>
        </p:spPr>
        <p:txBody>
          <a:bodyPr wrap="square" lIns="0" tIns="0" rIns="0" bIns="0" rtlCol="0" anchor="t"/>
          <a:lstStyle/>
          <a:p>
            <a:pPr marL="0" indent="0">
              <a:buNone/>
            </a:pPr>
            <a:r>
              <a:rPr lang="en-US" sz="1100" b="1" kern="0" spc="200" dirty="0">
                <a:solidFill>
                  <a:srgbClr val="0891B2"/>
                </a:solidFill>
                <a:latin typeface="Calibri" pitchFamily="34" charset="0"/>
                <a:ea typeface="Calibri" pitchFamily="34" charset="-122"/>
                <a:cs typeface="Calibri" pitchFamily="34" charset="-120"/>
              </a:rPr>
              <a:t>THE OTHER HALF OF THE PICTURE</a:t>
            </a:r>
            <a:endParaRPr lang="en-US" sz="1100" dirty="0"/>
          </a:p>
        </p:txBody>
      </p:sp>
      <p:sp>
        <p:nvSpPr>
          <p:cNvPr id="3" name="Text 1"/>
          <p:cNvSpPr txBox="1"/>
          <p:nvPr/>
        </p:nvSpPr>
        <p:spPr>
          <a:xfrm>
            <a:off x="685800" y="658368"/>
            <a:ext cx="10881360" cy="777240"/>
          </a:xfrm>
          <a:prstGeom prst="rect">
            <a:avLst/>
          </a:prstGeom>
          <a:noFill/>
          <a:ln/>
        </p:spPr>
        <p:txBody>
          <a:bodyPr wrap="square" lIns="0" tIns="0" rIns="0" bIns="0" rtlCol="0" anchor="t"/>
          <a:lstStyle/>
          <a:p>
            <a:pPr marL="0" indent="0">
              <a:buNone/>
            </a:pPr>
            <a:r>
              <a:rPr lang="en-US" sz="3000" b="1" dirty="0">
                <a:solidFill>
                  <a:srgbClr val="0D2640"/>
                </a:solidFill>
                <a:latin typeface="Cambria" pitchFamily="34" charset="0"/>
                <a:ea typeface="Cambria" pitchFamily="34" charset="-122"/>
                <a:cs typeface="Cambria" pitchFamily="34" charset="-120"/>
              </a:rPr>
              <a:t>The human reference is a band, not a point</a:t>
            </a:r>
            <a:endParaRPr lang="en-US" sz="3000" dirty="0"/>
          </a:p>
        </p:txBody>
      </p:sp>
      <p:pic>
        <p:nvPicPr>
          <p:cNvPr id="4" name="Image 0" descr="/home/claude/repo/figures/fig11_reliability.png"/>
          <p:cNvPicPr>
            <a:picLocks noChangeAspect="1"/>
          </p:cNvPicPr>
          <p:nvPr/>
        </p:nvPicPr>
        <p:blipFill>
          <a:blip r:embed="rId3"/>
          <a:stretch>
            <a:fillRect/>
          </a:stretch>
        </p:blipFill>
        <p:spPr>
          <a:xfrm>
            <a:off x="685800" y="2011680"/>
            <a:ext cx="5394960" cy="3694798"/>
          </a:xfrm>
          <a:prstGeom prst="rect">
            <a:avLst/>
          </a:prstGeom>
        </p:spPr>
      </p:pic>
      <p:sp>
        <p:nvSpPr>
          <p:cNvPr id="5" name="Text 2"/>
          <p:cNvSpPr txBox="1"/>
          <p:nvPr/>
        </p:nvSpPr>
        <p:spPr>
          <a:xfrm>
            <a:off x="6720840" y="2148840"/>
            <a:ext cx="4754880" cy="292608"/>
          </a:xfrm>
          <a:prstGeom prst="rect">
            <a:avLst/>
          </a:prstGeom>
          <a:noFill/>
          <a:ln/>
        </p:spPr>
        <p:txBody>
          <a:bodyPr wrap="square" lIns="0" tIns="0" rIns="0" bIns="0" rtlCol="0" anchor="t"/>
          <a:lstStyle/>
          <a:p>
            <a:pPr marL="0" indent="0">
              <a:buNone/>
            </a:pPr>
            <a:r>
              <a:rPr lang="en-US" sz="1500" b="1" dirty="0">
                <a:solidFill>
                  <a:srgbClr val="0D2640"/>
                </a:solidFill>
                <a:latin typeface="Cambria" pitchFamily="34" charset="0"/>
                <a:ea typeface="Cambria" pitchFamily="34" charset="-122"/>
                <a:cs typeface="Cambria" pitchFamily="34" charset="-120"/>
              </a:rPr>
              <a:t>One model beats nine reviewers</a:t>
            </a:r>
            <a:endParaRPr lang="en-US" sz="1500" dirty="0"/>
          </a:p>
        </p:txBody>
      </p:sp>
      <p:sp>
        <p:nvSpPr>
          <p:cNvPr id="6" name="Text 3"/>
          <p:cNvSpPr txBox="1"/>
          <p:nvPr/>
        </p:nvSpPr>
        <p:spPr>
          <a:xfrm>
            <a:off x="6720840" y="2478024"/>
            <a:ext cx="4754880" cy="868680"/>
          </a:xfrm>
          <a:prstGeom prst="rect">
            <a:avLst/>
          </a:prstGeom>
          <a:noFill/>
          <a:ln/>
        </p:spPr>
        <p:txBody>
          <a:bodyPr wrap="square" lIns="0" tIns="0" rIns="0" bIns="0" rtlCol="0" anchor="t"/>
          <a:lstStyle/>
          <a:p>
            <a:pPr marL="0" indent="0">
              <a:buNone/>
            </a:pPr>
            <a:r>
              <a:rPr lang="en-US" sz="1250" dirty="0">
                <a:solidFill>
                  <a:srgbClr val="1A2733"/>
                </a:solidFill>
                <a:latin typeface="Calibri" pitchFamily="34" charset="0"/>
                <a:ea typeface="Calibri" pitchFamily="34" charset="-122"/>
                <a:cs typeface="Calibri" pitchFamily="34" charset="-120"/>
              </a:rPr>
              <a:t>A single model’s 10-run mean reaches reliability 0.97. Reaching 0.80 with human reviewers takes roughly nine per case.</a:t>
            </a:r>
            <a:endParaRPr lang="en-US" sz="1250" dirty="0"/>
          </a:p>
        </p:txBody>
      </p:sp>
      <p:sp>
        <p:nvSpPr>
          <p:cNvPr id="7" name="Text 4"/>
          <p:cNvSpPr txBox="1"/>
          <p:nvPr/>
        </p:nvSpPr>
        <p:spPr>
          <a:xfrm>
            <a:off x="6720840" y="3447288"/>
            <a:ext cx="4754880" cy="292608"/>
          </a:xfrm>
          <a:prstGeom prst="rect">
            <a:avLst/>
          </a:prstGeom>
          <a:noFill/>
          <a:ln/>
        </p:spPr>
        <p:txBody>
          <a:bodyPr wrap="square" lIns="0" tIns="0" rIns="0" bIns="0" rtlCol="0" anchor="t"/>
          <a:lstStyle/>
          <a:p>
            <a:pPr marL="0" indent="0">
              <a:buNone/>
            </a:pPr>
            <a:r>
              <a:rPr lang="en-US" sz="1500" b="1" dirty="0">
                <a:solidFill>
                  <a:srgbClr val="0D2640"/>
                </a:solidFill>
                <a:latin typeface="Cambria" pitchFamily="34" charset="0"/>
                <a:ea typeface="Cambria" pitchFamily="34" charset="-122"/>
                <a:cs typeface="Cambria" pitchFamily="34" charset="-120"/>
              </a:rPr>
              <a:t>Reviewers disagree widely</a:t>
            </a:r>
            <a:endParaRPr lang="en-US" sz="1500" dirty="0"/>
          </a:p>
        </p:txBody>
      </p:sp>
      <p:sp>
        <p:nvSpPr>
          <p:cNvPr id="8" name="Text 5"/>
          <p:cNvSpPr txBox="1"/>
          <p:nvPr/>
        </p:nvSpPr>
        <p:spPr>
          <a:xfrm>
            <a:off x="6720840" y="3776472"/>
            <a:ext cx="4754880" cy="868680"/>
          </a:xfrm>
          <a:prstGeom prst="rect">
            <a:avLst/>
          </a:prstGeom>
          <a:noFill/>
          <a:ln/>
        </p:spPr>
        <p:txBody>
          <a:bodyPr wrap="square" lIns="0" tIns="0" rIns="0" bIns="0" rtlCol="0" anchor="t"/>
          <a:lstStyle/>
          <a:p>
            <a:pPr marL="0" indent="0">
              <a:buNone/>
            </a:pPr>
            <a:r>
              <a:rPr lang="en-US" sz="1250" dirty="0">
                <a:solidFill>
                  <a:srgbClr val="1A2733"/>
                </a:solidFill>
                <a:latin typeface="Calibri" pitchFamily="34" charset="0"/>
                <a:ea typeface="Calibri" pitchFamily="34" charset="-122"/>
                <a:cs typeface="Calibri" pitchFamily="34" charset="-120"/>
              </a:rPr>
              <a:t>Mean between-reviewer SD 16.4 points, mean range 28.2, one case spanning 74.</a:t>
            </a:r>
            <a:endParaRPr lang="en-US" sz="1250" dirty="0"/>
          </a:p>
        </p:txBody>
      </p:sp>
      <p:sp>
        <p:nvSpPr>
          <p:cNvPr id="9" name="Text 6"/>
          <p:cNvSpPr txBox="1"/>
          <p:nvPr/>
        </p:nvSpPr>
        <p:spPr>
          <a:xfrm>
            <a:off x="6720840" y="4745736"/>
            <a:ext cx="4754880" cy="292608"/>
          </a:xfrm>
          <a:prstGeom prst="rect">
            <a:avLst/>
          </a:prstGeom>
          <a:noFill/>
          <a:ln/>
        </p:spPr>
        <p:txBody>
          <a:bodyPr wrap="square" lIns="0" tIns="0" rIns="0" bIns="0" rtlCol="0" anchor="t"/>
          <a:lstStyle/>
          <a:p>
            <a:pPr marL="0" indent="0">
              <a:buNone/>
            </a:pPr>
            <a:r>
              <a:rPr lang="en-US" sz="1500" b="1" dirty="0">
                <a:solidFill>
                  <a:srgbClr val="0D2640"/>
                </a:solidFill>
                <a:latin typeface="Cambria" pitchFamily="34" charset="0"/>
                <a:ea typeface="Cambria" pitchFamily="34" charset="-122"/>
                <a:cs typeface="Cambria" pitchFamily="34" charset="-120"/>
              </a:rPr>
              <a:t>The panel usually sits inside</a:t>
            </a:r>
            <a:endParaRPr lang="en-US" sz="1500" dirty="0"/>
          </a:p>
        </p:txBody>
      </p:sp>
      <p:sp>
        <p:nvSpPr>
          <p:cNvPr id="10" name="Text 7"/>
          <p:cNvSpPr txBox="1"/>
          <p:nvPr/>
        </p:nvSpPr>
        <p:spPr>
          <a:xfrm>
            <a:off x="6720840" y="5074920"/>
            <a:ext cx="4754880" cy="868680"/>
          </a:xfrm>
          <a:prstGeom prst="rect">
            <a:avLst/>
          </a:prstGeom>
          <a:noFill/>
          <a:ln/>
        </p:spPr>
        <p:txBody>
          <a:bodyPr wrap="square" lIns="0" tIns="0" rIns="0" bIns="0" rtlCol="0" anchor="t"/>
          <a:lstStyle/>
          <a:p>
            <a:pPr marL="0" indent="0">
              <a:buNone/>
            </a:pPr>
            <a:r>
              <a:rPr lang="en-US" sz="1250" dirty="0">
                <a:solidFill>
                  <a:srgbClr val="1A2733"/>
                </a:solidFill>
                <a:latin typeface="Calibri" pitchFamily="34" charset="0"/>
                <a:ea typeface="Calibri" pitchFamily="34" charset="-122"/>
                <a:cs typeface="Calibri" pitchFamily="34" charset="-120"/>
              </a:rPr>
              <a:t>The model panel mean falls within the observed human range on 15 of 26 comparable cases (58%). The gap bites on the rest.</a:t>
            </a:r>
            <a:endParaRPr lang="en-US" sz="1250" dirty="0"/>
          </a:p>
        </p:txBody>
      </p:sp>
      <p:sp>
        <p:nvSpPr>
          <p:cNvPr id="11" name="Text 8"/>
          <p:cNvSpPr txBox="1"/>
          <p:nvPr/>
        </p:nvSpPr>
        <p:spPr>
          <a:xfrm>
            <a:off x="6720840" y="5943600"/>
            <a:ext cx="4754880" cy="457200"/>
          </a:xfrm>
          <a:prstGeom prst="rect">
            <a:avLst/>
          </a:prstGeom>
          <a:noFill/>
          <a:ln/>
        </p:spPr>
        <p:txBody>
          <a:bodyPr wrap="square" lIns="0" tIns="0" rIns="0" bIns="0" rtlCol="0" anchor="t"/>
          <a:lstStyle/>
          <a:p>
            <a:pPr marL="0" indent="0">
              <a:buNone/>
            </a:pPr>
            <a:r>
              <a:rPr lang="en-US" sz="1000" i="1" dirty="0">
                <a:solidFill>
                  <a:srgbClr val="5B7183"/>
                </a:solidFill>
                <a:latin typeface="Calibri" pitchFamily="34" charset="0"/>
                <a:ea typeface="Calibri" pitchFamily="34" charset="-122"/>
                <a:cs typeface="Calibri" pitchFamily="34" charset="-120"/>
              </a:rPr>
              <a:t>Rater identity is approximated by session; exact components await a rater-linked export.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2640"/>
        </a:solidFill>
        <a:effectLst/>
      </p:bgPr>
    </p:bg>
    <p:spTree>
      <p:nvGrpSpPr>
        <p:cNvPr id="1" name=""/>
        <p:cNvGrpSpPr/>
        <p:nvPr/>
      </p:nvGrpSpPr>
      <p:grpSpPr>
        <a:xfrm>
          <a:off x="0" y="0"/>
          <a:ext cx="0" cy="0"/>
          <a:chOff x="0" y="0"/>
          <a:chExt cx="0" cy="0"/>
        </a:xfrm>
      </p:grpSpPr>
      <p:sp>
        <p:nvSpPr>
          <p:cNvPr id="2" name="Text 0"/>
          <p:cNvSpPr txBox="1"/>
          <p:nvPr/>
        </p:nvSpPr>
        <p:spPr>
          <a:xfrm>
            <a:off x="685800" y="685800"/>
            <a:ext cx="7315200" cy="274320"/>
          </a:xfrm>
          <a:prstGeom prst="rect">
            <a:avLst/>
          </a:prstGeom>
          <a:noFill/>
          <a:ln/>
        </p:spPr>
        <p:txBody>
          <a:bodyPr wrap="square" lIns="0" tIns="0" rIns="0" bIns="0" rtlCol="0" anchor="t"/>
          <a:lstStyle/>
          <a:p>
            <a:pPr marL="0" indent="0">
              <a:buNone/>
            </a:pPr>
            <a:r>
              <a:rPr lang="en-US" sz="1100" b="1" kern="0" spc="200" dirty="0">
                <a:solidFill>
                  <a:srgbClr val="0891B2"/>
                </a:solidFill>
                <a:latin typeface="Calibri" pitchFamily="34" charset="0"/>
                <a:ea typeface="Calibri" pitchFamily="34" charset="-122"/>
                <a:cs typeface="Calibri" pitchFamily="34" charset="-120"/>
              </a:rPr>
              <a:t>IMPLICATIONS</a:t>
            </a:r>
            <a:endParaRPr lang="en-US" sz="1100" dirty="0"/>
          </a:p>
        </p:txBody>
      </p:sp>
      <p:sp>
        <p:nvSpPr>
          <p:cNvPr id="3" name="Text 1"/>
          <p:cNvSpPr txBox="1"/>
          <p:nvPr/>
        </p:nvSpPr>
        <p:spPr>
          <a:xfrm>
            <a:off x="685800" y="987552"/>
            <a:ext cx="10058400" cy="64008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What follows for deployment</a:t>
            </a:r>
            <a:endParaRPr lang="en-US" sz="3200" dirty="0"/>
          </a:p>
        </p:txBody>
      </p:sp>
      <p:sp>
        <p:nvSpPr>
          <p:cNvPr id="4" name="Shape 2"/>
          <p:cNvSpPr/>
          <p:nvPr/>
        </p:nvSpPr>
        <p:spPr>
          <a:xfrm>
            <a:off x="685800" y="2112264"/>
            <a:ext cx="146304" cy="146304"/>
          </a:xfrm>
          <a:prstGeom prst="ellipse">
            <a:avLst/>
          </a:prstGeom>
          <a:solidFill>
            <a:srgbClr val="0891B2"/>
          </a:solidFill>
          <a:ln/>
        </p:spPr>
        <p:txBody>
          <a:bodyPr/>
          <a:lstStyle/>
          <a:p>
            <a:endParaRPr lang="en-US"/>
          </a:p>
        </p:txBody>
      </p:sp>
      <p:sp>
        <p:nvSpPr>
          <p:cNvPr id="5" name="Text 3"/>
          <p:cNvSpPr txBox="1"/>
          <p:nvPr/>
        </p:nvSpPr>
        <p:spPr>
          <a:xfrm>
            <a:off x="1069848" y="2057400"/>
            <a:ext cx="4206240" cy="54864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The error runs toward paternalism</a:t>
            </a:r>
            <a:endParaRPr lang="en-US" sz="1600" dirty="0"/>
          </a:p>
        </p:txBody>
      </p:sp>
      <p:sp>
        <p:nvSpPr>
          <p:cNvPr id="6" name="Text 4"/>
          <p:cNvSpPr txBox="1"/>
          <p:nvPr/>
        </p:nvSpPr>
        <p:spPr>
          <a:xfrm>
            <a:off x="5532120" y="2039112"/>
            <a:ext cx="6035040" cy="822960"/>
          </a:xfrm>
          <a:prstGeom prst="rect">
            <a:avLst/>
          </a:prstGeom>
          <a:noFill/>
          <a:ln/>
        </p:spPr>
        <p:txBody>
          <a:bodyPr wrap="square" lIns="0" tIns="0" rIns="0" bIns="0" rtlCol="0" anchor="t"/>
          <a:lstStyle/>
          <a:p>
            <a:pPr marL="0" indent="0">
              <a:buNone/>
            </a:pPr>
            <a:r>
              <a:rPr lang="en-US" sz="1300" dirty="0">
                <a:solidFill>
                  <a:srgbClr val="C7D8E3"/>
                </a:solidFill>
                <a:latin typeface="Calibri" pitchFamily="34" charset="0"/>
                <a:ea typeface="Calibri" pitchFamily="34" charset="-122"/>
                <a:cs typeface="Calibri" pitchFamily="34" charset="-120"/>
              </a:rPr>
              <a:t>An autonomy-support aid on current systems would under-recognize patient agency, most where models already judge it weak — where the stakes for the patient are highest.</a:t>
            </a:r>
            <a:endParaRPr lang="en-US" sz="1300" dirty="0"/>
          </a:p>
        </p:txBody>
      </p:sp>
      <p:sp>
        <p:nvSpPr>
          <p:cNvPr id="7" name="Shape 5"/>
          <p:cNvSpPr/>
          <p:nvPr/>
        </p:nvSpPr>
        <p:spPr>
          <a:xfrm>
            <a:off x="685800" y="3154680"/>
            <a:ext cx="146304" cy="146304"/>
          </a:xfrm>
          <a:prstGeom prst="ellipse">
            <a:avLst/>
          </a:prstGeom>
          <a:solidFill>
            <a:srgbClr val="0891B2"/>
          </a:solidFill>
          <a:ln/>
        </p:spPr>
        <p:txBody>
          <a:bodyPr/>
          <a:lstStyle/>
          <a:p>
            <a:endParaRPr lang="en-US"/>
          </a:p>
        </p:txBody>
      </p:sp>
      <p:sp>
        <p:nvSpPr>
          <p:cNvPr id="8" name="Text 6"/>
          <p:cNvSpPr txBox="1"/>
          <p:nvPr/>
        </p:nvSpPr>
        <p:spPr>
          <a:xfrm>
            <a:off x="1069848" y="3099816"/>
            <a:ext cx="4206240" cy="54864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Human oversight, not substitution</a:t>
            </a:r>
            <a:endParaRPr lang="en-US" sz="1600" dirty="0"/>
          </a:p>
        </p:txBody>
      </p:sp>
      <p:sp>
        <p:nvSpPr>
          <p:cNvPr id="9" name="Text 7"/>
          <p:cNvSpPr txBox="1"/>
          <p:nvPr/>
        </p:nvSpPr>
        <p:spPr>
          <a:xfrm>
            <a:off x="5532120" y="3081528"/>
            <a:ext cx="6035040" cy="822960"/>
          </a:xfrm>
          <a:prstGeom prst="rect">
            <a:avLst/>
          </a:prstGeom>
          <a:noFill/>
          <a:ln/>
        </p:spPr>
        <p:txBody>
          <a:bodyPr wrap="square" lIns="0" tIns="0" rIns="0" bIns="0" rtlCol="0" anchor="t"/>
          <a:lstStyle/>
          <a:p>
            <a:pPr marL="0" indent="0">
              <a:buNone/>
            </a:pPr>
            <a:r>
              <a:rPr lang="en-US" sz="1300" dirty="0">
                <a:solidFill>
                  <a:srgbClr val="C7D8E3"/>
                </a:solidFill>
                <a:latin typeface="Calibri" pitchFamily="34" charset="0"/>
                <a:ea typeface="Calibri" pitchFamily="34" charset="-122"/>
                <a:cs typeface="Calibri" pitchFamily="34" charset="-120"/>
              </a:rPr>
              <a:t>In capacity-sensitive decisions, calibrate toward the range of defensible human judgment rather than its central tendency.</a:t>
            </a:r>
            <a:endParaRPr lang="en-US" sz="1300" dirty="0"/>
          </a:p>
        </p:txBody>
      </p:sp>
      <p:sp>
        <p:nvSpPr>
          <p:cNvPr id="10" name="Shape 8"/>
          <p:cNvSpPr/>
          <p:nvPr/>
        </p:nvSpPr>
        <p:spPr>
          <a:xfrm>
            <a:off x="685800" y="4197096"/>
            <a:ext cx="146304" cy="146304"/>
          </a:xfrm>
          <a:prstGeom prst="ellipse">
            <a:avLst/>
          </a:prstGeom>
          <a:solidFill>
            <a:srgbClr val="0891B2"/>
          </a:solidFill>
          <a:ln/>
        </p:spPr>
        <p:txBody>
          <a:bodyPr/>
          <a:lstStyle/>
          <a:p>
            <a:endParaRPr lang="en-US"/>
          </a:p>
        </p:txBody>
      </p:sp>
      <p:sp>
        <p:nvSpPr>
          <p:cNvPr id="11" name="Text 9"/>
          <p:cNvSpPr txBox="1"/>
          <p:nvPr/>
        </p:nvSpPr>
        <p:spPr>
          <a:xfrm>
            <a:off x="1069848" y="4142232"/>
            <a:ext cx="4206240" cy="54864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Restore calibrated abstention</a:t>
            </a:r>
            <a:endParaRPr lang="en-US" sz="1600" dirty="0"/>
          </a:p>
        </p:txBody>
      </p:sp>
      <p:sp>
        <p:nvSpPr>
          <p:cNvPr id="12" name="Text 10"/>
          <p:cNvSpPr txBox="1"/>
          <p:nvPr/>
        </p:nvSpPr>
        <p:spPr>
          <a:xfrm>
            <a:off x="5532120" y="4123944"/>
            <a:ext cx="6035040" cy="822960"/>
          </a:xfrm>
          <a:prstGeom prst="rect">
            <a:avLst/>
          </a:prstGeom>
          <a:noFill/>
          <a:ln/>
        </p:spPr>
        <p:txBody>
          <a:bodyPr wrap="square" lIns="0" tIns="0" rIns="0" bIns="0" rtlCol="0" anchor="t"/>
          <a:lstStyle/>
          <a:p>
            <a:pPr marL="0" indent="0">
              <a:buNone/>
            </a:pPr>
            <a:r>
              <a:rPr lang="en-US" sz="1300" dirty="0">
                <a:solidFill>
                  <a:srgbClr val="C7D8E3"/>
                </a:solidFill>
                <a:latin typeface="Calibri" pitchFamily="34" charset="0"/>
                <a:ea typeface="Calibri" pitchFamily="34" charset="-122"/>
                <a:cs typeface="Calibri" pitchFamily="34" charset="-120"/>
              </a:rPr>
              <a:t>Declining to score for insufficient evidence should be a first-class model behavior, not something lost between releases.</a:t>
            </a:r>
            <a:endParaRPr lang="en-US" sz="1300" dirty="0"/>
          </a:p>
        </p:txBody>
      </p:sp>
      <p:sp>
        <p:nvSpPr>
          <p:cNvPr id="13" name="Shape 11"/>
          <p:cNvSpPr/>
          <p:nvPr/>
        </p:nvSpPr>
        <p:spPr>
          <a:xfrm>
            <a:off x="685800" y="5239512"/>
            <a:ext cx="146304" cy="146304"/>
          </a:xfrm>
          <a:prstGeom prst="ellipse">
            <a:avLst/>
          </a:prstGeom>
          <a:solidFill>
            <a:srgbClr val="0891B2"/>
          </a:solidFill>
          <a:ln/>
        </p:spPr>
        <p:txBody>
          <a:bodyPr/>
          <a:lstStyle/>
          <a:p>
            <a:endParaRPr lang="en-US"/>
          </a:p>
        </p:txBody>
      </p:sp>
      <p:sp>
        <p:nvSpPr>
          <p:cNvPr id="14" name="Text 12"/>
          <p:cNvSpPr txBox="1"/>
          <p:nvPr/>
        </p:nvSpPr>
        <p:spPr>
          <a:xfrm>
            <a:off x="1069848" y="5184648"/>
            <a:ext cx="4206240" cy="54864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Selection is a mitigation, not a remedy</a:t>
            </a:r>
            <a:endParaRPr lang="en-US" sz="1600" dirty="0"/>
          </a:p>
        </p:txBody>
      </p:sp>
      <p:sp>
        <p:nvSpPr>
          <p:cNvPr id="15" name="Text 13"/>
          <p:cNvSpPr txBox="1"/>
          <p:nvPr/>
        </p:nvSpPr>
        <p:spPr>
          <a:xfrm>
            <a:off x="5532120" y="5166360"/>
            <a:ext cx="6035040" cy="822960"/>
          </a:xfrm>
          <a:prstGeom prst="rect">
            <a:avLst/>
          </a:prstGeom>
          <a:noFill/>
          <a:ln/>
        </p:spPr>
        <p:txBody>
          <a:bodyPr wrap="square" lIns="0" tIns="0" rIns="0" bIns="0" rtlCol="0" anchor="t"/>
          <a:lstStyle/>
          <a:p>
            <a:pPr marL="0" indent="0">
              <a:buNone/>
            </a:pPr>
            <a:r>
              <a:rPr lang="en-US" sz="1300" dirty="0">
                <a:solidFill>
                  <a:srgbClr val="C7D8E3"/>
                </a:solidFill>
                <a:latin typeface="Calibri" pitchFamily="34" charset="0"/>
                <a:ea typeface="Calibri" pitchFamily="34" charset="-122"/>
                <a:cs typeface="Calibri" pitchFamily="34" charset="-120"/>
              </a:rPr>
              <a:t>The best-aligned model halves the gap. None reaches parity.</a:t>
            </a:r>
            <a:endParaRPr lang="en-US" sz="1300" dirty="0"/>
          </a:p>
        </p:txBody>
      </p:sp>
      <p:sp>
        <p:nvSpPr>
          <p:cNvPr id="16" name="Text 14"/>
          <p:cNvSpPr txBox="1"/>
          <p:nvPr/>
        </p:nvSpPr>
        <p:spPr>
          <a:xfrm>
            <a:off x="685800" y="5943600"/>
            <a:ext cx="10607040" cy="457200"/>
          </a:xfrm>
          <a:prstGeom prst="rect">
            <a:avLst/>
          </a:prstGeom>
          <a:noFill/>
          <a:ln/>
        </p:spPr>
        <p:txBody>
          <a:bodyPr wrap="square" lIns="0" tIns="0" rIns="0" bIns="0" rtlCol="0" anchor="t"/>
          <a:lstStyle/>
          <a:p>
            <a:pPr marL="0" indent="0">
              <a:buNone/>
            </a:pPr>
            <a:r>
              <a:rPr lang="en-US" sz="1300" i="1" dirty="0">
                <a:solidFill>
                  <a:srgbClr val="8FA9BA"/>
                </a:solidFill>
                <a:latin typeface="Calibri" pitchFamily="34" charset="0"/>
                <a:ea typeface="Calibri" pitchFamily="34" charset="-122"/>
                <a:cs typeface="Calibri" pitchFamily="34" charset="-120"/>
              </a:rPr>
              <a:t>The instrument fixes what is being measured. It does not adjudicate who measures it well — reviewers are a reference standard, not ground truth.</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9"/>
        </a:solidFill>
        <a:effectLst/>
      </p:bgPr>
    </p:bg>
    <p:spTree>
      <p:nvGrpSpPr>
        <p:cNvPr id="1" name=""/>
        <p:cNvGrpSpPr/>
        <p:nvPr/>
      </p:nvGrpSpPr>
      <p:grpSpPr>
        <a:xfrm>
          <a:off x="0" y="0"/>
          <a:ext cx="0" cy="0"/>
          <a:chOff x="0" y="0"/>
          <a:chExt cx="0" cy="0"/>
        </a:xfrm>
      </p:grpSpPr>
      <p:sp>
        <p:nvSpPr>
          <p:cNvPr id="2" name="Text 0"/>
          <p:cNvSpPr txBox="1"/>
          <p:nvPr/>
        </p:nvSpPr>
        <p:spPr>
          <a:xfrm>
            <a:off x="685800" y="384048"/>
            <a:ext cx="10058400" cy="256032"/>
          </a:xfrm>
          <a:prstGeom prst="rect">
            <a:avLst/>
          </a:prstGeom>
          <a:noFill/>
          <a:ln/>
        </p:spPr>
        <p:txBody>
          <a:bodyPr wrap="square" lIns="0" tIns="0" rIns="0" bIns="0" rtlCol="0" anchor="t"/>
          <a:lstStyle/>
          <a:p>
            <a:pPr marL="0" indent="0">
              <a:buNone/>
            </a:pPr>
            <a:r>
              <a:rPr lang="en-US" sz="1100" b="1" kern="0" spc="200" dirty="0">
                <a:solidFill>
                  <a:srgbClr val="0891B2"/>
                </a:solidFill>
                <a:latin typeface="Calibri" pitchFamily="34" charset="0"/>
                <a:ea typeface="Calibri" pitchFamily="34" charset="-122"/>
                <a:cs typeface="Calibri" pitchFamily="34" charset="-120"/>
              </a:rPr>
              <a:t>HONEST LIMITS</a:t>
            </a:r>
            <a:endParaRPr lang="en-US" sz="1100" dirty="0"/>
          </a:p>
        </p:txBody>
      </p:sp>
      <p:sp>
        <p:nvSpPr>
          <p:cNvPr id="3" name="Text 1"/>
          <p:cNvSpPr txBox="1"/>
          <p:nvPr/>
        </p:nvSpPr>
        <p:spPr>
          <a:xfrm>
            <a:off x="685800" y="658368"/>
            <a:ext cx="10881360" cy="777240"/>
          </a:xfrm>
          <a:prstGeom prst="rect">
            <a:avLst/>
          </a:prstGeom>
          <a:noFill/>
          <a:ln/>
        </p:spPr>
        <p:txBody>
          <a:bodyPr wrap="square" lIns="0" tIns="0" rIns="0" bIns="0" rtlCol="0" anchor="t"/>
          <a:lstStyle/>
          <a:p>
            <a:pPr marL="0" indent="0">
              <a:buNone/>
            </a:pPr>
            <a:r>
              <a:rPr lang="en-US" sz="3000" b="1" dirty="0">
                <a:solidFill>
                  <a:srgbClr val="0D2640"/>
                </a:solidFill>
                <a:latin typeface="Cambria" pitchFamily="34" charset="0"/>
                <a:ea typeface="Cambria" pitchFamily="34" charset="-122"/>
                <a:cs typeface="Cambria" pitchFamily="34" charset="-120"/>
              </a:rPr>
              <a:t>What this does not establish, and what would settle it</a:t>
            </a:r>
            <a:endParaRPr lang="en-US" sz="3000" dirty="0"/>
          </a:p>
        </p:txBody>
      </p:sp>
      <p:sp>
        <p:nvSpPr>
          <p:cNvPr id="4" name="Shape 2"/>
          <p:cNvSpPr/>
          <p:nvPr/>
        </p:nvSpPr>
        <p:spPr>
          <a:xfrm>
            <a:off x="685800" y="1965960"/>
            <a:ext cx="3456432" cy="2606040"/>
          </a:xfrm>
          <a:prstGeom prst="roundRect">
            <a:avLst>
              <a:gd name="adj" fmla="val 2807"/>
            </a:avLst>
          </a:prstGeom>
          <a:solidFill>
            <a:srgbClr val="FFFFFF"/>
          </a:solidFill>
          <a:ln w="12700">
            <a:solidFill>
              <a:srgbClr val="DCE5EB"/>
            </a:solidFill>
            <a:prstDash val="solid"/>
          </a:ln>
        </p:spPr>
        <p:txBody>
          <a:bodyPr/>
          <a:lstStyle/>
          <a:p>
            <a:endParaRPr lang="en-US"/>
          </a:p>
        </p:txBody>
      </p:sp>
      <p:sp>
        <p:nvSpPr>
          <p:cNvPr id="5" name="Text 3"/>
          <p:cNvSpPr txBox="1"/>
          <p:nvPr/>
        </p:nvSpPr>
        <p:spPr>
          <a:xfrm>
            <a:off x="941832" y="2194560"/>
            <a:ext cx="2926080" cy="320040"/>
          </a:xfrm>
          <a:prstGeom prst="rect">
            <a:avLst/>
          </a:prstGeom>
          <a:noFill/>
          <a:ln/>
        </p:spPr>
        <p:txBody>
          <a:bodyPr wrap="square" lIns="0" tIns="0" rIns="0" bIns="0" rtlCol="0" anchor="t"/>
          <a:lstStyle/>
          <a:p>
            <a:pPr marL="0" indent="0">
              <a:buNone/>
            </a:pPr>
            <a:r>
              <a:rPr lang="en-US" sz="1600" b="1" dirty="0">
                <a:solidFill>
                  <a:srgbClr val="0D2640"/>
                </a:solidFill>
                <a:latin typeface="Cambria" pitchFamily="34" charset="0"/>
                <a:ea typeface="Cambria" pitchFamily="34" charset="-122"/>
                <a:cs typeface="Cambria" pitchFamily="34" charset="-120"/>
              </a:rPr>
              <a:t>Design</a:t>
            </a:r>
            <a:endParaRPr lang="en-US" sz="1600" dirty="0"/>
          </a:p>
        </p:txBody>
      </p:sp>
      <p:sp>
        <p:nvSpPr>
          <p:cNvPr id="6" name="Text 4"/>
          <p:cNvSpPr txBox="1"/>
          <p:nvPr/>
        </p:nvSpPr>
        <p:spPr>
          <a:xfrm>
            <a:off x="941832" y="2606040"/>
            <a:ext cx="2971800" cy="29718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A2733"/>
                </a:solidFill>
                <a:latin typeface="Calibri" pitchFamily="34" charset="0"/>
                <a:ea typeface="Calibri" pitchFamily="34" charset="-122"/>
                <a:cs typeface="Calibri" pitchFamily="34" charset="-120"/>
              </a:rPr>
              <a:t>The 50 cases were stratified on model scores, not sampled at random, so correlations are range-inflated and cross-range trends carry a regression artifact.</a:t>
            </a:r>
            <a:endParaRPr lang="en-US" sz="1150" dirty="0"/>
          </a:p>
          <a:p>
            <a:pPr marL="342900" indent="-342900">
              <a:spcAft>
                <a:spcPts val="800"/>
              </a:spcAft>
              <a:buSzPct val="100000"/>
              <a:buChar char="•"/>
            </a:pPr>
            <a:r>
              <a:rPr lang="en-US" sz="1150" dirty="0">
                <a:solidFill>
                  <a:srgbClr val="1A2733"/>
                </a:solidFill>
                <a:latin typeface="Calibri" pitchFamily="34" charset="0"/>
                <a:ea typeface="Calibri" pitchFamily="34" charset="-122"/>
                <a:cs typeface="Calibri" pitchFamily="34" charset="-120"/>
              </a:rPr>
              <a:t>Static written vignettes cannot capture an interactive bedside assessment.</a:t>
            </a:r>
            <a:endParaRPr lang="en-US" sz="1150" dirty="0"/>
          </a:p>
          <a:p>
            <a:pPr marL="342900" indent="-342900">
              <a:spcAft>
                <a:spcPts val="800"/>
              </a:spcAft>
              <a:buSzPct val="100000"/>
              <a:buChar char="•"/>
            </a:pPr>
            <a:r>
              <a:rPr lang="en-US" sz="1150" dirty="0">
                <a:solidFill>
                  <a:srgbClr val="1A2733"/>
                </a:solidFill>
                <a:latin typeface="Calibri" pitchFamily="34" charset="0"/>
                <a:ea typeface="Calibri" pitchFamily="34" charset="-122"/>
                <a:cs typeface="Calibri" pitchFamily="34" charset="-120"/>
              </a:rPr>
              <a:t>Reviewers knew a machine comparison was coming.</a:t>
            </a:r>
            <a:endParaRPr lang="en-US" sz="1150" dirty="0"/>
          </a:p>
        </p:txBody>
      </p:sp>
      <p:sp>
        <p:nvSpPr>
          <p:cNvPr id="7" name="Shape 5"/>
          <p:cNvSpPr/>
          <p:nvPr/>
        </p:nvSpPr>
        <p:spPr>
          <a:xfrm>
            <a:off x="4361688" y="1965960"/>
            <a:ext cx="3456432" cy="2606040"/>
          </a:xfrm>
          <a:prstGeom prst="roundRect">
            <a:avLst>
              <a:gd name="adj" fmla="val 2807"/>
            </a:avLst>
          </a:prstGeom>
          <a:solidFill>
            <a:srgbClr val="FFFFFF"/>
          </a:solidFill>
          <a:ln w="12700">
            <a:solidFill>
              <a:srgbClr val="DCE5EB"/>
            </a:solidFill>
            <a:prstDash val="solid"/>
          </a:ln>
        </p:spPr>
        <p:txBody>
          <a:bodyPr/>
          <a:lstStyle/>
          <a:p>
            <a:endParaRPr lang="en-US"/>
          </a:p>
        </p:txBody>
      </p:sp>
      <p:sp>
        <p:nvSpPr>
          <p:cNvPr id="8" name="Text 6"/>
          <p:cNvSpPr txBox="1"/>
          <p:nvPr/>
        </p:nvSpPr>
        <p:spPr>
          <a:xfrm>
            <a:off x="4617720" y="2194560"/>
            <a:ext cx="2926080" cy="320040"/>
          </a:xfrm>
          <a:prstGeom prst="rect">
            <a:avLst/>
          </a:prstGeom>
          <a:noFill/>
          <a:ln/>
        </p:spPr>
        <p:txBody>
          <a:bodyPr wrap="square" lIns="0" tIns="0" rIns="0" bIns="0" rtlCol="0" anchor="t"/>
          <a:lstStyle/>
          <a:p>
            <a:pPr marL="0" indent="0">
              <a:buNone/>
            </a:pPr>
            <a:r>
              <a:rPr lang="en-US" sz="1600" b="1" dirty="0">
                <a:solidFill>
                  <a:srgbClr val="0D2640"/>
                </a:solidFill>
                <a:latin typeface="Cambria" pitchFamily="34" charset="0"/>
                <a:ea typeface="Cambria" pitchFamily="34" charset="-122"/>
                <a:cs typeface="Cambria" pitchFamily="34" charset="-120"/>
              </a:rPr>
              <a:t>Reference standard</a:t>
            </a:r>
            <a:endParaRPr lang="en-US" sz="1600" dirty="0"/>
          </a:p>
        </p:txBody>
      </p:sp>
      <p:sp>
        <p:nvSpPr>
          <p:cNvPr id="9" name="Text 7"/>
          <p:cNvSpPr txBox="1"/>
          <p:nvPr/>
        </p:nvSpPr>
        <p:spPr>
          <a:xfrm>
            <a:off x="4617720" y="2606040"/>
            <a:ext cx="2971800" cy="29718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A2733"/>
                </a:solidFill>
                <a:latin typeface="Calibri" pitchFamily="34" charset="0"/>
                <a:ea typeface="Calibri" pitchFamily="34" charset="-122"/>
                <a:cs typeface="Calibri" pitchFamily="34" charset="-120"/>
              </a:rPr>
              <a:t>Convenience sample, concentrated in consultation-liaison psychiatry (17 of 36 stating a specialty).</a:t>
            </a:r>
            <a:endParaRPr lang="en-US" sz="1150" dirty="0"/>
          </a:p>
          <a:p>
            <a:pPr marL="342900" indent="-342900">
              <a:spcAft>
                <a:spcPts val="800"/>
              </a:spcAft>
              <a:buSzPct val="100000"/>
              <a:buChar char="•"/>
            </a:pPr>
            <a:r>
              <a:rPr lang="en-US" sz="1150" dirty="0">
                <a:solidFill>
                  <a:srgbClr val="1A2733"/>
                </a:solidFill>
                <a:latin typeface="Calibri" pitchFamily="34" charset="0"/>
                <a:ea typeface="Calibri" pitchFamily="34" charset="-122"/>
                <a:cs typeface="Calibri" pitchFamily="34" charset="-120"/>
              </a:rPr>
              <a:t>US recruitment only; nationality was not collected, so the standard likely encodes US norms of autonomy.</a:t>
            </a:r>
            <a:endParaRPr lang="en-US" sz="1150" dirty="0"/>
          </a:p>
          <a:p>
            <a:pPr marL="342900" indent="-342900">
              <a:spcAft>
                <a:spcPts val="800"/>
              </a:spcAft>
              <a:buSzPct val="100000"/>
              <a:buChar char="•"/>
            </a:pPr>
            <a:r>
              <a:rPr lang="en-US" sz="1150" dirty="0">
                <a:solidFill>
                  <a:srgbClr val="1A2733"/>
                </a:solidFill>
                <a:latin typeface="Calibri" pitchFamily="34" charset="0"/>
                <a:ea typeface="Calibri" pitchFamily="34" charset="-122"/>
                <a:cs typeface="Calibri" pitchFamily="34" charset="-120"/>
              </a:rPr>
              <a:t>No reviewer identifier survives de-identification, so rater variance is session-approximated.</a:t>
            </a:r>
            <a:endParaRPr lang="en-US" sz="1150" dirty="0"/>
          </a:p>
        </p:txBody>
      </p:sp>
      <p:sp>
        <p:nvSpPr>
          <p:cNvPr id="10" name="Shape 8"/>
          <p:cNvSpPr/>
          <p:nvPr/>
        </p:nvSpPr>
        <p:spPr>
          <a:xfrm>
            <a:off x="8037576" y="1965960"/>
            <a:ext cx="3456432" cy="2606040"/>
          </a:xfrm>
          <a:prstGeom prst="roundRect">
            <a:avLst>
              <a:gd name="adj" fmla="val 2807"/>
            </a:avLst>
          </a:prstGeom>
          <a:solidFill>
            <a:srgbClr val="FFFFFF"/>
          </a:solidFill>
          <a:ln w="19050">
            <a:solidFill>
              <a:srgbClr val="0891B2"/>
            </a:solidFill>
            <a:prstDash val="solid"/>
          </a:ln>
        </p:spPr>
        <p:txBody>
          <a:bodyPr/>
          <a:lstStyle/>
          <a:p>
            <a:endParaRPr lang="en-US"/>
          </a:p>
        </p:txBody>
      </p:sp>
      <p:sp>
        <p:nvSpPr>
          <p:cNvPr id="11" name="Text 9"/>
          <p:cNvSpPr txBox="1"/>
          <p:nvPr/>
        </p:nvSpPr>
        <p:spPr>
          <a:xfrm>
            <a:off x="8293608" y="2194560"/>
            <a:ext cx="2926080" cy="320040"/>
          </a:xfrm>
          <a:prstGeom prst="rect">
            <a:avLst/>
          </a:prstGeom>
          <a:noFill/>
          <a:ln/>
        </p:spPr>
        <p:txBody>
          <a:bodyPr wrap="square" lIns="0" tIns="0" rIns="0" bIns="0" rtlCol="0" anchor="t"/>
          <a:lstStyle/>
          <a:p>
            <a:pPr marL="0" indent="0">
              <a:buNone/>
            </a:pPr>
            <a:r>
              <a:rPr lang="en-US" sz="1600" b="1" dirty="0">
                <a:solidFill>
                  <a:srgbClr val="0891B2"/>
                </a:solidFill>
                <a:latin typeface="Cambria" pitchFamily="34" charset="0"/>
                <a:ea typeface="Cambria" pitchFamily="34" charset="-122"/>
                <a:cs typeface="Cambria" pitchFamily="34" charset="-120"/>
              </a:rPr>
              <a:t>What would settle it</a:t>
            </a:r>
            <a:endParaRPr lang="en-US" sz="1600" dirty="0"/>
          </a:p>
        </p:txBody>
      </p:sp>
      <p:sp>
        <p:nvSpPr>
          <p:cNvPr id="12" name="Text 10"/>
          <p:cNvSpPr txBox="1"/>
          <p:nvPr/>
        </p:nvSpPr>
        <p:spPr>
          <a:xfrm>
            <a:off x="8293608" y="2606040"/>
            <a:ext cx="2971800" cy="29718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1A2733"/>
                </a:solidFill>
                <a:latin typeface="Calibri" pitchFamily="34" charset="0"/>
                <a:ea typeface="Calibri" pitchFamily="34" charset="-122"/>
                <a:cs typeface="Calibri" pitchFamily="34" charset="-120"/>
              </a:rPr>
              <a:t>A rater-linked export: exact variance components and a completion-missingness model.</a:t>
            </a:r>
            <a:endParaRPr lang="en-US" sz="1150" dirty="0"/>
          </a:p>
          <a:p>
            <a:pPr marL="342900" indent="-342900">
              <a:spcAft>
                <a:spcPts val="800"/>
              </a:spcAft>
              <a:buSzPct val="100000"/>
              <a:buChar char="•"/>
            </a:pPr>
            <a:r>
              <a:rPr lang="en-US" sz="1150" dirty="0">
                <a:solidFill>
                  <a:srgbClr val="1A2733"/>
                </a:solidFill>
                <a:latin typeface="Calibri" pitchFamily="34" charset="0"/>
                <a:ea typeface="Calibri" pitchFamily="34" charset="-122"/>
                <a:cs typeface="Calibri" pitchFamily="34" charset="-120"/>
              </a:rPr>
              <a:t>Replication on a randomly drawn sample of the 89-case corpus.</a:t>
            </a:r>
            <a:endParaRPr lang="en-US" sz="1150" dirty="0"/>
          </a:p>
          <a:p>
            <a:pPr marL="342900" indent="-342900">
              <a:spcAft>
                <a:spcPts val="800"/>
              </a:spcAft>
              <a:buSzPct val="100000"/>
              <a:buChar char="•"/>
            </a:pPr>
            <a:r>
              <a:rPr lang="en-US" sz="1150" dirty="0">
                <a:solidFill>
                  <a:srgbClr val="1A2733"/>
                </a:solidFill>
                <a:latin typeface="Calibri" pitchFamily="34" charset="0"/>
                <a:ea typeface="Calibri" pitchFamily="34" charset="-122"/>
                <a:cs typeface="Calibri" pitchFamily="34" charset="-120"/>
              </a:rPr>
              <a:t>An ablation that withholds specific evidence and watches whether models abstain.</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2640"/>
        </a:solidFill>
        <a:effectLst/>
      </p:bgPr>
    </p:bg>
    <p:spTree>
      <p:nvGrpSpPr>
        <p:cNvPr id="1" name=""/>
        <p:cNvGrpSpPr/>
        <p:nvPr/>
      </p:nvGrpSpPr>
      <p:grpSpPr>
        <a:xfrm>
          <a:off x="0" y="0"/>
          <a:ext cx="0" cy="0"/>
          <a:chOff x="0" y="0"/>
          <a:chExt cx="0" cy="0"/>
        </a:xfrm>
      </p:grpSpPr>
      <p:sp>
        <p:nvSpPr>
          <p:cNvPr id="2" name="Text 0"/>
          <p:cNvSpPr txBox="1"/>
          <p:nvPr/>
        </p:nvSpPr>
        <p:spPr>
          <a:xfrm>
            <a:off x="685800" y="1828800"/>
            <a:ext cx="10515600" cy="2194560"/>
          </a:xfrm>
          <a:prstGeom prst="rect">
            <a:avLst/>
          </a:prstGeom>
          <a:noFill/>
          <a:ln/>
        </p:spPr>
        <p:txBody>
          <a:bodyPr wrap="square" lIns="0" tIns="0" rIns="0" bIns="0" rtlCol="0" anchor="t"/>
          <a:lstStyle/>
          <a:p>
            <a:pPr marL="0" indent="0">
              <a:lnSpc>
                <a:spcPts val="4200"/>
              </a:lnSpc>
              <a:buNone/>
            </a:pPr>
            <a:r>
              <a:rPr lang="en-US" sz="3000" b="1" dirty="0">
                <a:solidFill>
                  <a:srgbClr val="FFFFFF"/>
                </a:solidFill>
                <a:latin typeface="Cambria" pitchFamily="34" charset="0"/>
                <a:ea typeface="Cambria" pitchFamily="34" charset="-122"/>
                <a:cs typeface="Cambria" pitchFamily="34" charset="-120"/>
              </a:rPr>
              <a:t>Models rank clinical cases the way trained</a:t>
            </a:r>
            <a:endParaRPr lang="en-US" sz="3000" dirty="0"/>
          </a:p>
          <a:p>
            <a:pPr marL="0" indent="0">
              <a:lnSpc>
                <a:spcPts val="4200"/>
              </a:lnSpc>
              <a:buNone/>
            </a:pPr>
            <a:r>
              <a:rPr lang="en-US" sz="3000" b="1" dirty="0">
                <a:solidFill>
                  <a:srgbClr val="FFFFFF"/>
                </a:solidFill>
                <a:latin typeface="Cambria" pitchFamily="34" charset="0"/>
                <a:ea typeface="Cambria" pitchFamily="34" charset="-122"/>
                <a:cs typeface="Cambria" pitchFamily="34" charset="-120"/>
              </a:rPr>
              <a:t>ethicists do, score them about eleven points</a:t>
            </a:r>
            <a:endParaRPr lang="en-US" sz="3000" dirty="0"/>
          </a:p>
          <a:p>
            <a:pPr marL="0" indent="0">
              <a:lnSpc>
                <a:spcPts val="4200"/>
              </a:lnSpc>
              <a:buNone/>
            </a:pPr>
            <a:r>
              <a:rPr lang="en-US" sz="3000" b="1" dirty="0">
                <a:solidFill>
                  <a:srgbClr val="FFFFFF"/>
                </a:solidFill>
                <a:latin typeface="Cambria" pitchFamily="34" charset="0"/>
                <a:ea typeface="Cambria" pitchFamily="34" charset="-122"/>
                <a:cs typeface="Cambria" pitchFamily="34" charset="-120"/>
              </a:rPr>
              <a:t>lower, and never say they cannot tell.</a:t>
            </a:r>
            <a:endParaRPr lang="en-US" sz="3000" dirty="0"/>
          </a:p>
        </p:txBody>
      </p:sp>
      <p:sp>
        <p:nvSpPr>
          <p:cNvPr id="3" name="Shape 1"/>
          <p:cNvSpPr/>
          <p:nvPr/>
        </p:nvSpPr>
        <p:spPr>
          <a:xfrm>
            <a:off x="685800" y="4224528"/>
            <a:ext cx="1371600" cy="41148"/>
          </a:xfrm>
          <a:prstGeom prst="rect">
            <a:avLst/>
          </a:prstGeom>
          <a:solidFill>
            <a:srgbClr val="0891B2"/>
          </a:solidFill>
          <a:ln/>
        </p:spPr>
        <p:txBody>
          <a:bodyPr/>
          <a:lstStyle/>
          <a:p>
            <a:endParaRPr lang="en-US"/>
          </a:p>
        </p:txBody>
      </p:sp>
      <p:sp>
        <p:nvSpPr>
          <p:cNvPr id="4" name="Text 2"/>
          <p:cNvSpPr txBox="1"/>
          <p:nvPr/>
        </p:nvSpPr>
        <p:spPr>
          <a:xfrm>
            <a:off x="685800" y="4572000"/>
            <a:ext cx="7315200" cy="320040"/>
          </a:xfrm>
          <a:prstGeom prst="rect">
            <a:avLst/>
          </a:prstGeom>
          <a:noFill/>
          <a:ln/>
        </p:spPr>
        <p:txBody>
          <a:bodyPr wrap="square" lIns="0" tIns="0" rIns="0" bIns="0" rtlCol="0" anchor="t"/>
          <a:lstStyle/>
          <a:p>
            <a:pPr marL="0" indent="0">
              <a:buNone/>
            </a:pPr>
            <a:r>
              <a:rPr lang="en-US" sz="1500" dirty="0">
                <a:solidFill>
                  <a:srgbClr val="C7D8E3"/>
                </a:solidFill>
                <a:latin typeface="Calibri" pitchFamily="34" charset="0"/>
                <a:ea typeface="Calibri" pitchFamily="34" charset="-122"/>
                <a:cs typeface="Calibri" pitchFamily="34" charset="-120"/>
              </a:rPr>
              <a:t>Taposh Dutta Roy  ·  taposh_duttaroy@hms.harvard.edu</a:t>
            </a:r>
            <a:endParaRPr lang="en-US" sz="1500" dirty="0"/>
          </a:p>
        </p:txBody>
      </p:sp>
      <p:sp>
        <p:nvSpPr>
          <p:cNvPr id="5" name="Text 3"/>
          <p:cNvSpPr txBox="1"/>
          <p:nvPr/>
        </p:nvSpPr>
        <p:spPr>
          <a:xfrm>
            <a:off x="685800" y="5074920"/>
            <a:ext cx="9601200" cy="640080"/>
          </a:xfrm>
          <a:prstGeom prst="rect">
            <a:avLst/>
          </a:prstGeom>
          <a:noFill/>
          <a:ln/>
        </p:spPr>
        <p:txBody>
          <a:bodyPr wrap="square" lIns="0" tIns="0" rIns="0" bIns="0" rtlCol="0" anchor="t"/>
          <a:lstStyle/>
          <a:p>
            <a:pPr marL="0" indent="0">
              <a:buNone/>
            </a:pPr>
            <a:r>
              <a:rPr lang="en-US" sz="1300" dirty="0">
                <a:solidFill>
                  <a:srgbClr val="8FA9BA"/>
                </a:solidFill>
                <a:latin typeface="Calibri" pitchFamily="34" charset="0"/>
                <a:ea typeface="Calibri" pitchFamily="34" charset="-122"/>
                <a:cs typeface="Calibri" pitchFamily="34" charset="-120"/>
              </a:rPr>
              <a:t>Analysis code, response-scale decoding evidence, and a verification harness that checks every published number against the data are released with the paper.</a:t>
            </a:r>
            <a:endParaRPr lang="en-US" sz="1300" dirty="0"/>
          </a:p>
        </p:txBody>
      </p:sp>
      <p:sp>
        <p:nvSpPr>
          <p:cNvPr id="6" name="Text 4"/>
          <p:cNvSpPr txBox="1"/>
          <p:nvPr/>
        </p:nvSpPr>
        <p:spPr>
          <a:xfrm>
            <a:off x="685800" y="6035040"/>
            <a:ext cx="8229600" cy="274320"/>
          </a:xfrm>
          <a:prstGeom prst="rect">
            <a:avLst/>
          </a:prstGeom>
          <a:noFill/>
          <a:ln/>
        </p:spPr>
        <p:txBody>
          <a:bodyPr wrap="square" lIns="0" tIns="0" rIns="0" bIns="0" rtlCol="0" anchor="t"/>
          <a:lstStyle/>
          <a:p>
            <a:pPr marL="0" indent="0">
              <a:buNone/>
            </a:pPr>
            <a:r>
              <a:rPr lang="en-US" sz="1100" dirty="0">
                <a:solidFill>
                  <a:srgbClr val="6E8BA0"/>
                </a:solidFill>
                <a:latin typeface="Calibri" pitchFamily="34" charset="0"/>
                <a:ea typeface="Calibri" pitchFamily="34" charset="-122"/>
                <a:cs typeface="Calibri" pitchFamily="34" charset="-120"/>
              </a:rPr>
              <a:t>Human data collected under IRB26-0146, Harvard Longwood Campus IRB.</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1866</Words>
  <Application>Microsoft Macintosh PowerPoint</Application>
  <PresentationFormat>Widescreen</PresentationFormat>
  <Paragraphs>179</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Taposh Dutta-Roy</cp:lastModifiedBy>
  <cp:revision>2</cp:revision>
  <dcterms:created xsi:type="dcterms:W3CDTF">2026-09-02T19:56:45Z</dcterms:created>
  <dcterms:modified xsi:type="dcterms:W3CDTF">2026-09-02T20:54:09Z</dcterms:modified>
</cp:coreProperties>
</file>